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fd14e63e1b46f1" /><Relationship Type="http://schemas.openxmlformats.org/officeDocument/2006/relationships/extended-properties" Target="/docProps/app.xml" Id="Rb31aa8fa5b6a4439" /><Relationship Type="http://schemas.openxmlformats.org/officeDocument/2006/relationships/officeDocument" Target="/ppt/presentation.xml" Id="R0836be64c67844d9" /></Relationships>
</file>

<file path=ppt/presentation.xml><?xml version="1.0" encoding="utf-8"?>
<p:presentation xmlns:p="http://schemas.openxmlformats.org/presentationml/2006/main">
  <p:sldMasterIdLst>
    <p:sldMasterId xmlns:r="http://schemas.openxmlformats.org/officeDocument/2006/relationships" id="2147483648" r:id="R1f3c740255a148ce"/>
  </p:sldMasterIdLst>
  <p:notesMasterIdLst>
    <p:notesMasterId xmlns:r="http://schemas.openxmlformats.org/officeDocument/2006/relationships" r:id="Rf2c17d2268054710"/>
  </p:notesMasterIdLst>
  <p:sldIdLst>
    <p:sldId xmlns:r="http://schemas.openxmlformats.org/officeDocument/2006/relationships" id="256" r:id="R02a6938dd6ec4e43"/>
    <p:sldId xmlns:r="http://schemas.openxmlformats.org/officeDocument/2006/relationships" id="257" r:id="R9579bd48451a4859"/>
    <p:sldId xmlns:r="http://schemas.openxmlformats.org/officeDocument/2006/relationships" id="258" r:id="Rc21394a33d7c40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a8b10eaa8244339" /><Relationship Type="http://schemas.openxmlformats.org/officeDocument/2006/relationships/slideMaster" Target="/ppt/slideMasters/slideMaster1.xml" Id="R1f3c740255a148ce" /><Relationship Type="http://schemas.openxmlformats.org/officeDocument/2006/relationships/notesMaster" Target="/ppt/notesMasters/notesMaster1.xml" Id="Rf2c17d2268054710" /><Relationship Type="http://schemas.openxmlformats.org/officeDocument/2006/relationships/presProps" Target="/ppt/presProps.xml" Id="Ra7075ce05ddc45f8" /><Relationship Type="http://schemas.openxmlformats.org/officeDocument/2006/relationships/tableStyles" Target="/ppt/tableStyles.xml" Id="R445e06964f224dbb" /><Relationship Type="http://schemas.openxmlformats.org/officeDocument/2006/relationships/slide" Target="/ppt/slides/slide1.xml" Id="R02a6938dd6ec4e43" /><Relationship Type="http://schemas.openxmlformats.org/officeDocument/2006/relationships/slide" Target="/ppt/slides/slide2.xml" Id="R9579bd48451a4859" /><Relationship Type="http://schemas.openxmlformats.org/officeDocument/2006/relationships/slide" Target="/ppt/slides/slide3.xml" Id="Rc21394a33d7c40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38b371fc9534c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34d8968ba34eb3" /><Relationship Type="http://schemas.openxmlformats.org/officeDocument/2006/relationships/notesMaster" Target="/ppt/notesMasters/notesMaster1.xml" Id="Rf78e4a08439c44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ed948848d184596" /><Relationship Type="http://schemas.openxmlformats.org/officeDocument/2006/relationships/notesMaster" Target="/ppt/notesMasters/notesMaster1.xml" Id="Rcea0ac2524ac43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ad5fab43514d55" /><Relationship Type="http://schemas.openxmlformats.org/officeDocument/2006/relationships/notesMaster" Target="/ppt/notesMasters/notesMaster1.xml" Id="R00975bf1992f48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hook: Advisers often start with information spread across accounts, deal notes and lender criteria. Mandate brings those pieces together so the funding story is easier to review and explain. Then introduce the live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now: OECD's 2026 New Zealand survey says SME lending declined sharply in 2023 and 2024 and that shorter, smaller-scale finance became more common. Chambers' 2026 New Zealand private-credit guide describes additional capital, tailored structures and a market that is still developing. The opportunity for Mandate is helping advisers review the fit and prepare a clear, checked funding story. Demo link: https://mandate-ollie-software.vercel.app/</a:t>
            </a:r>
          </a:p>
          <a:p xmlns:a="http://schemas.openxmlformats.org/drawingml/2006/main">
            <a:r>
              <a:t>Sources:</a:t>
            </a:r>
          </a:p>
          <a:p xmlns:a="http://schemas.openxmlformats.org/drawingml/2006/main">
            <a:r>
              <a:t>OECD, OECD Economic Surveys: New Zealand 2026, https://www.oecd.org/en/publications/oecd-economic-surveys-new-zealand-2026_3ec5de98-en/full-report/unlocking-capital-markets-to-drive-growth_d1f7a7f7.html</a:t>
            </a:r>
          </a:p>
          <a:p xmlns:a="http://schemas.openxmlformats.org/drawingml/2006/main">
            <a:r>
              <a:t>Chambers and Partners, Private Credit 2026: New Zealand, https://practiceguides.chambers.com/practice-guides/private-credit-2026/new-zealand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That's how we Mandate. Invite feedback from advisers and lenders on which checks, evidence and report formats would make this most useful in practice. Suggested next steps on screen are proposed validation work, not completed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785766673240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22357e68394bb4" /><Relationship Type="http://schemas.openxmlformats.org/officeDocument/2006/relationships/slideLayout" Target="/ppt/slideLayouts/slideLayout1.xml" Id="R888562e9d22444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8562e9d22444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7dd179e02e4148" /><Relationship Type="http://schemas.openxmlformats.org/officeDocument/2006/relationships/image" Target="/ppt/media/image.png" Id="Rf03b7fd7c1ec4bdb" /><Relationship Type="http://schemas.openxmlformats.org/officeDocument/2006/relationships/image" Target="/ppt/media/image2.png" Id="R4b2a893bce9342db" /><Relationship Type="http://schemas.openxmlformats.org/officeDocument/2006/relationships/notesSlide" Target="/ppt/notesSlides/notesSlide1.xml" Id="Re5827eb409b944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9c029c4d914e0b" /><Relationship Type="http://schemas.openxmlformats.org/officeDocument/2006/relationships/image" Target="/ppt/media/image3.png" Id="R018d66ec2e934c7e" /><Relationship Type="http://schemas.openxmlformats.org/officeDocument/2006/relationships/image" Target="/ppt/media/image4.png" Id="Red6c520cf69a4a16" /><Relationship Type="http://schemas.openxmlformats.org/officeDocument/2006/relationships/notesSlide" Target="/ppt/notesSlides/notesSlide2.xml" Id="Rb00142d9e24041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1fe2f7cb6b40ec" /><Relationship Type="http://schemas.openxmlformats.org/officeDocument/2006/relationships/image" Target="/ppt/media/image5.png" Id="Ra7a8a5621e5741db" /><Relationship Type="http://schemas.openxmlformats.org/officeDocument/2006/relationships/image" Target="/ppt/media/image6.png" Id="R33e1ac5f412f4701" /><Relationship Type="http://schemas.openxmlformats.org/officeDocument/2006/relationships/notesSlide" Target="/ppt/notesSlides/notesSlide3.xml" Id="R4d825b36a87a4245" /></Relationships>
</file>

<file path=ppt/slides/slide1.xml><?xml version="1.0" encoding="utf-8"?>
<p:sld xmlns:p="http://schemas.openxmlformats.org/presentationml/2006/main">
  <p:cSld>
    <p:bg>
      <p:bgPr>
        <a:solidFill xmlns:a="http://schemas.openxmlformats.org/drawingml/2006/main">
          <a:srgbClr val="F3F2E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03b7fd7c1ec4bdb"/>
          <a:stretch xmlns:a="http://schemas.openxmlformats.org/drawingml/2006/main"/>
        </p:blipFill>
        <p:spPr>
          <a:xfrm xmlns:a="http://schemas.openxmlformats.org/drawingml/2006/main">
            <a:off x="725202" y="457200"/>
            <a:ext cx="1950022" cy="437388"/>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b2a893bce9342db"/>
          <a:stretch xmlns:a="http://schemas.openxmlformats.org/drawingml/2006/main"/>
        </p:blipFill>
        <p:spPr>
          <a:xfrm xmlns:a="http://schemas.openxmlformats.org/drawingml/2006/main">
            <a:off x="7543800" y="1471613"/>
            <a:ext cx="4000500" cy="3429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891CD8C3-9934-4CF3-BD06-1DCE1BBD46BD}"/>
              </a:ext>
            </a:extLst>
          </p:cNvPr>
          <p:cNvSpPr>
            <a:spLocks xmlns:a="http://schemas.openxmlformats.org/drawingml/2006/main" noGrp="1"/>
          </p:cNvSpPr>
          <p:nvPr/>
        </p:nvSpPr>
        <p:spPr>
          <a:xfrm xmlns:a="http://schemas.openxmlformats.org/drawingml/2006/main">
            <a:off x="685800" y="1809750"/>
            <a:ext cx="695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6900" b="0">
                <a:solidFill>
                  <a:srgbClr val="111210"/>
                </a:solidFill>
                <a:latin typeface="Georgia"/>
                <a:ea typeface="Georgia"/>
                <a:cs typeface="Georgia"/>
              </a:defRPr>
            </a:pPr>
            <a:r>
              <a:rPr sz="6900" b="0">
                <a:solidFill>
                  <a:srgbClr val="111210"/>
                </a:solidFill>
                <a:latin typeface="Georgia"/>
                <a:ea typeface="Georgia"/>
                <a:cs typeface="Georgia"/>
              </a:rPr>
              <a:t>Mandate</a:t>
            </a:r>
          </a:p>
        </p:txBody>
      </p:sp>
      <p:sp>
        <p:nvSpPr>
          <p:cNvPr id="4" name="direction">
            <a:extLst xmlns:a="http://schemas.openxmlformats.org/drawingml/2006/main">
              <a:ext uri="{FF2B5EF4-FFF2-40B4-BE49-F238E27FC236}">
                <a16:creationId xmlns:a16="http://schemas.microsoft.com/office/drawing/2014/main" id="{4F2F5855-88B8-4504-966C-068DD2E513CD}"/>
              </a:ext>
            </a:extLst>
          </p:cNvPr>
          <p:cNvSpPr>
            <a:spLocks xmlns:a="http://schemas.openxmlformats.org/drawingml/2006/main" noGrp="1"/>
          </p:cNvSpPr>
          <p:nvPr/>
        </p:nvSpPr>
        <p:spPr>
          <a:xfrm xmlns:a="http://schemas.openxmlformats.org/drawingml/2006/main">
            <a:off x="762000" y="3162300"/>
            <a:ext cx="6477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625" b="0">
                <a:solidFill>
                  <a:srgbClr val="5B7CFF"/>
                </a:solidFill>
                <a:latin typeface="Georgia"/>
                <a:ea typeface="Georgia"/>
                <a:cs typeface="Georgia"/>
              </a:defRPr>
            </a:pPr>
            <a:r>
              <a:rPr sz="2625" b="0">
                <a:solidFill>
                  <a:srgbClr val="5B7CFF"/>
                </a:solidFill>
                <a:latin typeface="Georgia"/>
                <a:ea typeface="Georgia"/>
                <a:cs typeface="Georgia"/>
              </a:rPr>
              <a:t>The right connection.</a:t>
            </a:r>
          </a:p>
        </p:txBody>
      </p:sp>
      <p:sp>
        <p:nvSpPr>
          <p:cNvPr id="5" name="hook">
            <a:extLst xmlns:a="http://schemas.openxmlformats.org/drawingml/2006/main">
              <a:ext uri="{FF2B5EF4-FFF2-40B4-BE49-F238E27FC236}">
                <a16:creationId xmlns:a16="http://schemas.microsoft.com/office/drawing/2014/main" id="{08799D5B-515A-438D-A046-EDA17F18613D}"/>
              </a:ext>
            </a:extLst>
          </p:cNvPr>
          <p:cNvSpPr>
            <a:spLocks xmlns:a="http://schemas.openxmlformats.org/drawingml/2006/main" noGrp="1"/>
          </p:cNvSpPr>
          <p:nvPr/>
        </p:nvSpPr>
        <p:spPr>
          <a:xfrm xmlns:a="http://schemas.openxmlformats.org/drawingml/2006/main">
            <a:off x="762000" y="3905250"/>
            <a:ext cx="5667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00" b="0">
                <a:solidFill>
                  <a:srgbClr val="111210"/>
                </a:solidFill>
                <a:latin typeface="Georgia"/>
                <a:ea typeface="Georgia"/>
                <a:cs typeface="Georgia"/>
              </a:defRPr>
            </a:pPr>
            <a:r>
              <a:rPr sz="2100" b="0">
                <a:solidFill>
                  <a:srgbClr val="111210"/>
                </a:solidFill>
                <a:latin typeface="Georgia"/>
                <a:ea typeface="Georgia"/>
                <a:cs typeface="Georgia"/>
              </a:rPr>
              <a:t>A clearer path from business information to lender conversations.</a:t>
            </a:r>
          </a:p>
        </p:txBody>
      </p:sp>
      <p:sp>
        <p:nvSpPr>
          <p:cNvPr id="6" name="footer">
            <a:extLst xmlns:a="http://schemas.openxmlformats.org/drawingml/2006/main">
              <a:ext uri="{FF2B5EF4-FFF2-40B4-BE49-F238E27FC236}">
                <a16:creationId xmlns:a16="http://schemas.microsoft.com/office/drawing/2014/main" id="{6C21E9CA-3BCC-4755-A554-27A02A975AAE}"/>
              </a:ext>
            </a:extLst>
          </p:cNvPr>
          <p:cNvSpPr>
            <a:spLocks xmlns:a="http://schemas.openxmlformats.org/drawingml/2006/main" noGrp="1"/>
          </p:cNvSpPr>
          <p:nvPr/>
        </p:nvSpPr>
        <p:spPr>
          <a:xfrm xmlns:a="http://schemas.openxmlformats.org/drawingml/2006/main">
            <a:off x="762000" y="600075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777873"/>
                </a:solidFill>
                <a:latin typeface="Arial"/>
                <a:ea typeface="Arial"/>
                <a:cs typeface="Arial"/>
              </a:defRPr>
            </a:pPr>
            <a:r>
              <a:rPr sz="975" b="1">
                <a:solidFill>
                  <a:srgbClr val="777873"/>
                </a:solidFill>
                <a:latin typeface="Arial"/>
                <a:ea typeface="Arial"/>
                <a:cs typeface="Arial"/>
              </a:rPr>
              <a:t>PRIVATE CREDIT, MADE CLEARER FOR ADVISERS</a:t>
            </a:r>
          </a:p>
        </p:txBody>
      </p:sp>
    </p:spTree>
    <p:extLst>
      <p:ext uri="{BB962C8B-B14F-4D97-AF65-F5344CB8AC3E}">
        <p14:creationId xmlns:p14="http://schemas.microsoft.com/office/powerpoint/2010/main" val="14803259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18d66ec2e934c7e"/>
          <a:stretch xmlns:a="http://schemas.openxmlformats.org/drawingml/2006/main"/>
        </p:blipFill>
        <p:spPr>
          <a:xfrm xmlns:a="http://schemas.openxmlformats.org/drawingml/2006/main">
            <a:off x="667817" y="381000"/>
            <a:ext cx="1598066" cy="358445"/>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03D1A3F9-4DD6-471A-A723-27CFF539EDBE}"/>
              </a:ext>
            </a:extLst>
          </p:cNvPr>
          <p:cNvSpPr>
            <a:spLocks xmlns:a="http://schemas.openxmlformats.org/drawingml/2006/main" noGrp="1"/>
          </p:cNvSpPr>
          <p:nvPr/>
        </p:nvSpPr>
        <p:spPr>
          <a:xfrm xmlns:a="http://schemas.openxmlformats.org/drawingml/2006/main">
            <a:off x="666750" y="1066800"/>
            <a:ext cx="8382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525" b="0">
                <a:solidFill>
                  <a:srgbClr val="111210"/>
                </a:solidFill>
                <a:latin typeface="Georgia"/>
                <a:ea typeface="Georgia"/>
                <a:cs typeface="Georgia"/>
              </a:defRPr>
            </a:pPr>
            <a:r>
              <a:rPr sz="3525" b="0">
                <a:solidFill>
                  <a:srgbClr val="111210"/>
                </a:solidFill>
                <a:latin typeface="Georgia"/>
                <a:ea typeface="Georgia"/>
                <a:cs typeface="Georgia"/>
              </a:rPr>
              <a:t>Why now: private credit</a:t>
            </a:r>
          </a:p>
        </p:txBody>
      </p:sp>
      <p:sp>
        <p:nvSpPr>
          <p:cNvPr id="3" name="subtitle">
            <a:extLst xmlns:a="http://schemas.openxmlformats.org/drawingml/2006/main">
              <a:ext uri="{FF2B5EF4-FFF2-40B4-BE49-F238E27FC236}">
                <a16:creationId xmlns:a16="http://schemas.microsoft.com/office/drawing/2014/main" id="{9FB229E6-B1C9-406E-8F55-2002C5324309}"/>
              </a:ext>
            </a:extLst>
          </p:cNvPr>
          <p:cNvSpPr>
            <a:spLocks xmlns:a="http://schemas.openxmlformats.org/drawingml/2006/main" noGrp="1"/>
          </p:cNvSpPr>
          <p:nvPr/>
        </p:nvSpPr>
        <p:spPr>
          <a:xfrm xmlns:a="http://schemas.openxmlformats.org/drawingml/2006/main">
            <a:off x="685800" y="1743075"/>
            <a:ext cx="8143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777873"/>
                </a:solidFill>
                <a:latin typeface="Arial"/>
                <a:ea typeface="Arial"/>
                <a:cs typeface="Arial"/>
              </a:defRPr>
            </a:pPr>
            <a:r>
              <a:rPr sz="1500" b="0">
                <a:solidFill>
                  <a:srgbClr val="777873"/>
                </a:solidFill>
                <a:latin typeface="Arial"/>
                <a:ea typeface="Arial"/>
                <a:cs typeface="Arial"/>
              </a:rPr>
              <a:t>New Zealand businesses face changing funding options.</a:t>
            </a:r>
          </a:p>
        </p:txBody>
      </p:sp>
      <p:sp>
        <p:nvSpPr>
          <p:cNvPr id="4" name="period">
            <a:extLst xmlns:a="http://schemas.openxmlformats.org/drawingml/2006/main">
              <a:ext uri="{FF2B5EF4-FFF2-40B4-BE49-F238E27FC236}">
                <a16:creationId xmlns:a16="http://schemas.microsoft.com/office/drawing/2014/main" id="{E5DE4784-04A9-4122-B82E-EA5D993B78F2}"/>
              </a:ext>
            </a:extLst>
          </p:cNvPr>
          <p:cNvSpPr>
            <a:spLocks xmlns:a="http://schemas.openxmlformats.org/drawingml/2006/main" noGrp="1"/>
          </p:cNvSpPr>
          <p:nvPr/>
        </p:nvSpPr>
        <p:spPr>
          <a:xfrm xmlns:a="http://schemas.openxmlformats.org/drawingml/2006/main">
            <a:off x="723900" y="2590800"/>
            <a:ext cx="323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975" b="0">
                <a:solidFill>
                  <a:srgbClr val="5B7CFF"/>
                </a:solidFill>
                <a:latin typeface="Georgia"/>
                <a:ea typeface="Georgia"/>
                <a:cs typeface="Georgia"/>
              </a:defRPr>
            </a:pPr>
            <a:r>
              <a:rPr sz="3975" b="0">
                <a:solidFill>
                  <a:srgbClr val="5B7CFF"/>
                </a:solidFill>
                <a:latin typeface="Georgia"/>
                <a:ea typeface="Georgia"/>
                <a:cs typeface="Georgia"/>
              </a:rPr>
              <a:t>2023–24</a:t>
            </a:r>
          </a:p>
        </p:txBody>
      </p:sp>
      <p:sp>
        <p:nvSpPr>
          <p:cNvPr id="5" name="fact-one">
            <a:extLst xmlns:a="http://schemas.openxmlformats.org/drawingml/2006/main">
              <a:ext uri="{FF2B5EF4-FFF2-40B4-BE49-F238E27FC236}">
                <a16:creationId xmlns:a16="http://schemas.microsoft.com/office/drawing/2014/main" id="{3C9CDDF5-4FFC-457A-8735-1B21BA1141DE}"/>
              </a:ext>
            </a:extLst>
          </p:cNvPr>
          <p:cNvSpPr>
            <a:spLocks xmlns:a="http://schemas.openxmlformats.org/drawingml/2006/main" noGrp="1"/>
          </p:cNvSpPr>
          <p:nvPr/>
        </p:nvSpPr>
        <p:spPr>
          <a:xfrm xmlns:a="http://schemas.openxmlformats.org/drawingml/2006/main">
            <a:off x="742950" y="3333750"/>
            <a:ext cx="4333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11210"/>
                </a:solidFill>
                <a:latin typeface="Georgia"/>
                <a:ea typeface="Georgia"/>
                <a:cs typeface="Georgia"/>
              </a:defRPr>
            </a:pPr>
            <a:r>
              <a:rPr sz="1725" b="0">
                <a:solidFill>
                  <a:srgbClr val="111210"/>
                </a:solidFill>
                <a:latin typeface="Georgia"/>
                <a:ea typeface="Georgia"/>
                <a:cs typeface="Georgia"/>
              </a:rPr>
              <a:t>SME lending declined, while shorter, smaller-scale finance became more common.</a:t>
            </a:r>
          </a:p>
        </p:txBody>
      </p:sp>
      <p:sp>
        <p:nvSpPr>
          <p:cNvPr id="6" name="fact-one-source">
            <a:extLst xmlns:a="http://schemas.openxmlformats.org/drawingml/2006/main">
              <a:ext uri="{FF2B5EF4-FFF2-40B4-BE49-F238E27FC236}">
                <a16:creationId xmlns:a16="http://schemas.microsoft.com/office/drawing/2014/main" id="{5A0D4DE2-B9BC-4B2B-A181-C38EDCD68102}"/>
              </a:ext>
            </a:extLst>
          </p:cNvPr>
          <p:cNvSpPr>
            <a:spLocks xmlns:a="http://schemas.openxmlformats.org/drawingml/2006/main" noGrp="1"/>
          </p:cNvSpPr>
          <p:nvPr/>
        </p:nvSpPr>
        <p:spPr>
          <a:xfrm xmlns:a="http://schemas.openxmlformats.org/drawingml/2006/main">
            <a:off x="742950" y="4524375"/>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00" b="0">
                <a:solidFill>
                  <a:srgbClr val="777873"/>
                </a:solidFill>
                <a:latin typeface="Arial"/>
                <a:ea typeface="Arial"/>
                <a:cs typeface="Arial"/>
              </a:defRPr>
            </a:pPr>
            <a:r>
              <a:rPr sz="900" b="0">
                <a:solidFill>
                  <a:srgbClr val="777873"/>
                </a:solidFill>
                <a:latin typeface="Arial"/>
                <a:ea typeface="Arial"/>
                <a:cs typeface="Arial"/>
              </a:rPr>
              <a:t>OECD Economic Surveys: New Zealand 2026</a:t>
            </a:r>
          </a:p>
        </p:txBody>
      </p:sp>
      <p:sp>
        <p:nvSpPr>
          <p:cNvPr id="7" name="fact-two-kicker">
            <a:extLst xmlns:a="http://schemas.openxmlformats.org/drawingml/2006/main">
              <a:ext uri="{FF2B5EF4-FFF2-40B4-BE49-F238E27FC236}">
                <a16:creationId xmlns:a16="http://schemas.microsoft.com/office/drawing/2014/main" id="{C4672817-A236-4436-9438-4A9B6ED6E3CE}"/>
              </a:ext>
            </a:extLst>
          </p:cNvPr>
          <p:cNvSpPr>
            <a:spLocks xmlns:a="http://schemas.openxmlformats.org/drawingml/2006/main" noGrp="1"/>
          </p:cNvSpPr>
          <p:nvPr/>
        </p:nvSpPr>
        <p:spPr>
          <a:xfrm xmlns:a="http://schemas.openxmlformats.org/drawingml/2006/main">
            <a:off x="5715000" y="26193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5B7CFF"/>
                </a:solidFill>
                <a:latin typeface="Arial"/>
                <a:ea typeface="Arial"/>
                <a:cs typeface="Arial"/>
              </a:defRPr>
            </a:pPr>
            <a:r>
              <a:rPr sz="1575" b="1">
                <a:solidFill>
                  <a:srgbClr val="5B7CFF"/>
                </a:solidFill>
                <a:latin typeface="Arial"/>
                <a:ea typeface="Arial"/>
                <a:cs typeface="Arial"/>
              </a:rPr>
              <a:t>A broader set of lenders</a:t>
            </a:r>
          </a:p>
        </p:txBody>
      </p:sp>
      <p:sp>
        <p:nvSpPr>
          <p:cNvPr id="8" name="fact-two">
            <a:extLst xmlns:a="http://schemas.openxmlformats.org/drawingml/2006/main">
              <a:ext uri="{FF2B5EF4-FFF2-40B4-BE49-F238E27FC236}">
                <a16:creationId xmlns:a16="http://schemas.microsoft.com/office/drawing/2014/main" id="{1BFEAD8A-68F1-4083-94E9-0D23E3813098}"/>
              </a:ext>
            </a:extLst>
          </p:cNvPr>
          <p:cNvSpPr>
            <a:spLocks xmlns:a="http://schemas.openxmlformats.org/drawingml/2006/main" noGrp="1"/>
          </p:cNvSpPr>
          <p:nvPr/>
        </p:nvSpPr>
        <p:spPr>
          <a:xfrm xmlns:a="http://schemas.openxmlformats.org/drawingml/2006/main">
            <a:off x="5715000" y="3067050"/>
            <a:ext cx="4191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111210"/>
                </a:solidFill>
                <a:latin typeface="Georgia"/>
                <a:ea typeface="Georgia"/>
                <a:cs typeface="Georgia"/>
              </a:defRPr>
            </a:pPr>
            <a:r>
              <a:rPr sz="1725" b="0">
                <a:solidFill>
                  <a:srgbClr val="111210"/>
                </a:solidFill>
                <a:latin typeface="Georgia"/>
                <a:ea typeface="Georgia"/>
                <a:cs typeface="Georgia"/>
              </a:rPr>
              <a:t>Private credit is attracting new capital and can offer tailored structures. Each fund still brings its own criteria.</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d6c520cf69a4a16"/>
          <a:stretch xmlns:a="http://schemas.openxmlformats.org/drawingml/2006/main"/>
        </p:blipFill>
        <p:spPr>
          <a:xfrm xmlns:a="http://schemas.openxmlformats.org/drawingml/2006/main">
            <a:off x="9620250" y="2459491"/>
            <a:ext cx="2095500" cy="1796143"/>
          </a:xfrm>
          <a:prstGeom xmlns:a="http://schemas.openxmlformats.org/drawingml/2006/main" prst="rect">
            <a:avLst/>
          </a:prstGeom>
        </p:spPr>
      </p:pic>
      <p:sp>
        <p:nvSpPr>
          <p:cNvPr id="10" name="takeaway">
            <a:extLst xmlns:a="http://schemas.openxmlformats.org/drawingml/2006/main">
              <a:ext uri="{FF2B5EF4-FFF2-40B4-BE49-F238E27FC236}">
                <a16:creationId xmlns:a16="http://schemas.microsoft.com/office/drawing/2014/main" id="{5057BA37-24C6-4091-B89A-C65540FBA1AA}"/>
              </a:ext>
            </a:extLst>
          </p:cNvPr>
          <p:cNvSpPr>
            <a:spLocks xmlns:a="http://schemas.openxmlformats.org/drawingml/2006/main" noGrp="1"/>
          </p:cNvSpPr>
          <p:nvPr/>
        </p:nvSpPr>
        <p:spPr>
          <a:xfrm xmlns:a="http://schemas.openxmlformats.org/drawingml/2006/main">
            <a:off x="723900" y="5000625"/>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482"/>
          </a:bodyPr>
          <a:lstStyle xmlns:a="http://schemas.openxmlformats.org/drawingml/2006/main"/>
          <a:p xmlns:a="http://schemas.openxmlformats.org/drawingml/2006/main">
            <a:pPr algn="l">
              <a:defRPr sz="1875" b="1">
                <a:solidFill>
                  <a:srgbClr val="111210"/>
                </a:solidFill>
                <a:latin typeface="Arial"/>
                <a:ea typeface="Arial"/>
                <a:cs typeface="Arial"/>
              </a:defRPr>
            </a:pPr>
            <a:r>
              <a:rPr sz="1875" b="1">
                <a:solidFill>
                  <a:srgbClr val="111210"/>
                </a:solidFill>
                <a:latin typeface="Arial"/>
                <a:ea typeface="Arial"/>
                <a:cs typeface="Arial"/>
              </a:rPr>
              <a:t>Advisers need a clear way to compare each deal with lender requirements.</a:t>
            </a:r>
          </a:p>
        </p:txBody>
      </p:sp>
      <p:sp>
        <p:nvSpPr>
          <p:cNvPr id="11" name="demo-strip">
            <a:extLst xmlns:a="http://schemas.openxmlformats.org/drawingml/2006/main">
              <a:ext uri="{FF2B5EF4-FFF2-40B4-BE49-F238E27FC236}">
                <a16:creationId xmlns:a16="http://schemas.microsoft.com/office/drawing/2014/main" id="{EB3E6B5E-5A57-4361-BC68-B5799AB1CACE}"/>
              </a:ext>
            </a:extLst>
          </p:cNvPr>
          <p:cNvSpPr>
            <a:spLocks xmlns:a="http://schemas.openxmlformats.org/drawingml/2006/main" noGrp="1"/>
          </p:cNvSpPr>
          <p:nvPr/>
        </p:nvSpPr>
        <p:spPr>
          <a:xfrm xmlns:a="http://schemas.openxmlformats.org/drawingml/2006/main">
            <a:off x="666750" y="5724525"/>
            <a:ext cx="10858500" cy="704850"/>
          </a:xfrm>
          <a:prstGeom xmlns:a="http://schemas.openxmlformats.org/drawingml/2006/main" prst="roundRect">
            <a:avLst>
              <a:gd name="adj" fmla="val 10811"/>
            </a:avLst>
          </a:prstGeom>
          <a:solidFill xmlns:a="http://schemas.openxmlformats.org/drawingml/2006/main">
            <a:srgbClr val="E9EDFF"/>
          </a:solidFill>
          <a:ln xmlns:a="http://schemas.openxmlformats.org/drawingml/2006/main" w="0">
            <a:noFill/>
          </a:ln>
        </p:spPr>
      </p:sp>
      <p:sp>
        <p:nvSpPr>
          <p:cNvPr id="12" name="demo-label">
            <a:extLst xmlns:a="http://schemas.openxmlformats.org/drawingml/2006/main">
              <a:ext uri="{FF2B5EF4-FFF2-40B4-BE49-F238E27FC236}">
                <a16:creationId xmlns:a16="http://schemas.microsoft.com/office/drawing/2014/main" id="{EA5143A5-9E12-4CC9-AD04-E47CDDAE101A}"/>
              </a:ext>
            </a:extLst>
          </p:cNvPr>
          <p:cNvSpPr>
            <a:spLocks xmlns:a="http://schemas.openxmlformats.org/drawingml/2006/main" noGrp="1"/>
          </p:cNvSpPr>
          <p:nvPr/>
        </p:nvSpPr>
        <p:spPr>
          <a:xfrm xmlns:a="http://schemas.openxmlformats.org/drawingml/2006/main">
            <a:off x="876300" y="5857875"/>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222"/>
          </a:bodyPr>
          <a:lstStyle xmlns:a="http://schemas.openxmlformats.org/drawingml/2006/main"/>
          <a:p xmlns:a="http://schemas.openxmlformats.org/drawingml/2006/main">
            <a:pPr algn="l">
              <a:defRPr sz="900" b="1">
                <a:solidFill>
                  <a:srgbClr val="5B7CFF"/>
                </a:solidFill>
                <a:latin typeface="Arial"/>
                <a:ea typeface="Arial"/>
                <a:cs typeface="Arial"/>
              </a:defRPr>
            </a:pPr>
            <a:r>
              <a:rPr sz="900" b="1">
                <a:solidFill>
                  <a:srgbClr val="5B7CFF"/>
                </a:solidFill>
                <a:latin typeface="Arial"/>
                <a:ea typeface="Arial"/>
                <a:cs typeface="Arial"/>
              </a:rPr>
              <a:t>LIVE DEMO</a:t>
            </a:r>
          </a:p>
        </p:txBody>
      </p:sp>
      <p:sp>
        <p:nvSpPr>
          <p:cNvPr id="13" name="demo-url">
            <a:extLst xmlns:a="http://schemas.openxmlformats.org/drawingml/2006/main">
              <a:ext uri="{FF2B5EF4-FFF2-40B4-BE49-F238E27FC236}">
                <a16:creationId xmlns:a16="http://schemas.microsoft.com/office/drawing/2014/main" id="{1EA84CAE-D442-4FCF-B24F-4E0F909CA48A}"/>
              </a:ext>
            </a:extLst>
          </p:cNvPr>
          <p:cNvSpPr>
            <a:spLocks xmlns:a="http://schemas.openxmlformats.org/drawingml/2006/main" noGrp="1"/>
          </p:cNvSpPr>
          <p:nvPr/>
        </p:nvSpPr>
        <p:spPr>
          <a:xfrm xmlns:a="http://schemas.openxmlformats.org/drawingml/2006/main">
            <a:off x="876300" y="60483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lgn="l">
              <a:defRPr sz="1275" b="1">
                <a:solidFill>
                  <a:srgbClr val="111210"/>
                </a:solidFill>
                <a:latin typeface="Arial"/>
                <a:ea typeface="Arial"/>
                <a:cs typeface="Arial"/>
              </a:defRPr>
            </a:pPr>
            <a:r>
              <a:rPr sz="1275" b="1">
                <a:solidFill>
                  <a:srgbClr val="111210"/>
                </a:solidFill>
                <a:latin typeface="Arial"/>
                <a:ea typeface="Arial"/>
                <a:cs typeface="Arial"/>
              </a:rPr>
              <a:t>mandate-ollie-software.vercel.app</a:t>
            </a:r>
          </a:p>
        </p:txBody>
      </p:sp>
      <p:sp>
        <p:nvSpPr>
          <p:cNvPr id="14" name="handoff">
            <a:extLst xmlns:a="http://schemas.openxmlformats.org/drawingml/2006/main">
              <a:ext uri="{FF2B5EF4-FFF2-40B4-BE49-F238E27FC236}">
                <a16:creationId xmlns:a16="http://schemas.microsoft.com/office/drawing/2014/main" id="{E2E5EE7D-CA05-4C6A-8D0C-8B85FE1E4C13}"/>
              </a:ext>
            </a:extLst>
          </p:cNvPr>
          <p:cNvSpPr>
            <a:spLocks xmlns:a="http://schemas.openxmlformats.org/drawingml/2006/main" noGrp="1"/>
          </p:cNvSpPr>
          <p:nvPr/>
        </p:nvSpPr>
        <p:spPr>
          <a:xfrm xmlns:a="http://schemas.openxmlformats.org/drawingml/2006/main">
            <a:off x="5810250" y="5943600"/>
            <a:ext cx="538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125" b="0">
                <a:solidFill>
                  <a:srgbClr val="111210"/>
                </a:solidFill>
                <a:latin typeface="Arial"/>
                <a:ea typeface="Arial"/>
                <a:cs typeface="Arial"/>
              </a:defRPr>
            </a:pPr>
            <a:r>
              <a:rPr sz="1125" b="0">
                <a:solidFill>
                  <a:srgbClr val="111210"/>
                </a:solidFill>
                <a:latin typeface="Arial"/>
                <a:ea typeface="Arial"/>
                <a:cs typeface="Arial"/>
              </a:rPr>
              <a:t>Open the site for the product walkthrough, then return here for the close.</a:t>
            </a:r>
          </a:p>
        </p:txBody>
      </p:sp>
    </p:spTree>
    <p:extLst>
      <p:ext uri="{BB962C8B-B14F-4D97-AF65-F5344CB8AC3E}">
        <p14:creationId xmlns:p14="http://schemas.microsoft.com/office/powerpoint/2010/main" val="296540594"/>
      </p:ext>
    </p:extLst>
  </p:cSld>
</p:sld>
</file>

<file path=ppt/slides/slide3.xml><?xml version="1.0" encoding="utf-8"?>
<p:sld xmlns:p="http://schemas.openxmlformats.org/presentationml/2006/main">
  <p:cSld>
    <p:bg>
      <p:bgPr>
        <a:solidFill xmlns:a="http://schemas.openxmlformats.org/drawingml/2006/main">
          <a:srgbClr val="F3F2E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7a8a5621e5741db"/>
          <a:stretch xmlns:a="http://schemas.openxmlformats.org/drawingml/2006/main"/>
        </p:blipFill>
        <p:spPr>
          <a:xfrm xmlns:a="http://schemas.openxmlformats.org/drawingml/2006/main">
            <a:off x="725107" y="438150"/>
            <a:ext cx="1807337" cy="405384"/>
          </a:xfrm>
          <a:prstGeom xmlns:a="http://schemas.openxmlformats.org/drawingml/2006/main" prst="rect">
            <a:avLst/>
          </a:prstGeom>
        </p:spPr>
      </p:pic>
      <p:sp>
        <p:nvSpPr>
          <p:cNvPr id="2" name="close">
            <a:extLst xmlns:a="http://schemas.openxmlformats.org/drawingml/2006/main">
              <a:ext uri="{FF2B5EF4-FFF2-40B4-BE49-F238E27FC236}">
                <a16:creationId xmlns:a16="http://schemas.microsoft.com/office/drawing/2014/main" id="{C2653502-3D82-4A87-A416-4217C37D0DBD}"/>
              </a:ext>
            </a:extLst>
          </p:cNvPr>
          <p:cNvSpPr>
            <a:spLocks xmlns:a="http://schemas.openxmlformats.org/drawingml/2006/main" noGrp="1"/>
          </p:cNvSpPr>
          <p:nvPr/>
        </p:nvSpPr>
        <p:spPr>
          <a:xfrm xmlns:a="http://schemas.openxmlformats.org/drawingml/2006/main">
            <a:off x="742950" y="1428750"/>
            <a:ext cx="7239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5100" b="0">
                <a:solidFill>
                  <a:srgbClr val="111210"/>
                </a:solidFill>
                <a:latin typeface="Georgia"/>
                <a:ea typeface="Georgia"/>
                <a:cs typeface="Georgia"/>
              </a:defRPr>
            </a:pPr>
            <a:r>
              <a:rPr sz="5100" b="0">
                <a:solidFill>
                  <a:srgbClr val="111210"/>
                </a:solidFill>
                <a:latin typeface="Georgia"/>
                <a:ea typeface="Georgia"/>
                <a:cs typeface="Georgia"/>
              </a:rPr>
              <a:t>That’s how we</a:t>
            </a:r>
          </a:p>
          <a:p xmlns:a="http://schemas.openxmlformats.org/drawingml/2006/main">
            <a:pPr algn="l">
              <a:defRPr sz="5100" b="0">
                <a:solidFill>
                  <a:srgbClr val="111210"/>
                </a:solidFill>
                <a:latin typeface="Georgia"/>
                <a:ea typeface="Georgia"/>
                <a:cs typeface="Georgia"/>
              </a:defRPr>
            </a:pPr>
            <a:r>
              <a:rPr sz="5100" b="0">
                <a:solidFill>
                  <a:srgbClr val="111210"/>
                </a:solidFill>
                <a:latin typeface="Georgia"/>
                <a:ea typeface="Georgia"/>
                <a:cs typeface="Georgia"/>
              </a:rPr>
              <a:t>Mandate.</a:t>
            </a:r>
          </a:p>
        </p:txBody>
      </p:sp>
      <p:sp>
        <p:nvSpPr>
          <p:cNvPr id="3" name="next-title">
            <a:extLst xmlns:a="http://schemas.openxmlformats.org/drawingml/2006/main">
              <a:ext uri="{FF2B5EF4-FFF2-40B4-BE49-F238E27FC236}">
                <a16:creationId xmlns:a16="http://schemas.microsoft.com/office/drawing/2014/main" id="{CD41E6FC-7FFD-48C6-A87C-8EF4CF4C31A5}"/>
              </a:ext>
            </a:extLst>
          </p:cNvPr>
          <p:cNvSpPr>
            <a:spLocks xmlns:a="http://schemas.openxmlformats.org/drawingml/2006/main" noGrp="1"/>
          </p:cNvSpPr>
          <p:nvPr/>
        </p:nvSpPr>
        <p:spPr>
          <a:xfrm xmlns:a="http://schemas.openxmlformats.org/drawingml/2006/main">
            <a:off x="781050" y="404812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5B7CFF"/>
                </a:solidFill>
                <a:latin typeface="Arial"/>
                <a:ea typeface="Arial"/>
                <a:cs typeface="Arial"/>
              </a:defRPr>
            </a:pPr>
            <a:r>
              <a:rPr sz="1200" b="1">
                <a:solidFill>
                  <a:srgbClr val="5B7CFF"/>
                </a:solidFill>
                <a:latin typeface="Arial"/>
                <a:ea typeface="Arial"/>
                <a:cs typeface="Arial"/>
              </a:rPr>
              <a:t>Next steps</a:t>
            </a:r>
          </a:p>
        </p:txBody>
      </p:sp>
      <p:sp>
        <p:nvSpPr>
          <p:cNvPr id="4" name="next-1">
            <a:extLst xmlns:a="http://schemas.openxmlformats.org/drawingml/2006/main">
              <a:ext uri="{FF2B5EF4-FFF2-40B4-BE49-F238E27FC236}">
                <a16:creationId xmlns:a16="http://schemas.microsoft.com/office/drawing/2014/main" id="{FF9EC349-62E9-48BC-9BEB-C735FB5BB1D5}"/>
              </a:ext>
            </a:extLst>
          </p:cNvPr>
          <p:cNvSpPr>
            <a:spLocks xmlns:a="http://schemas.openxmlformats.org/drawingml/2006/main" noGrp="1"/>
          </p:cNvSpPr>
          <p:nvPr/>
        </p:nvSpPr>
        <p:spPr>
          <a:xfrm xmlns:a="http://schemas.openxmlformats.org/drawingml/2006/main">
            <a:off x="781050" y="452437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11210"/>
                </a:solidFill>
                <a:latin typeface="Arial"/>
                <a:ea typeface="Arial"/>
                <a:cs typeface="Arial"/>
              </a:defRPr>
            </a:pPr>
            <a:r>
              <a:rPr sz="1500" b="0">
                <a:solidFill>
                  <a:srgbClr val="111210"/>
                </a:solidFill>
                <a:latin typeface="Arial"/>
                <a:ea typeface="Arial"/>
                <a:cs typeface="Arial"/>
              </a:rPr>
              <a:t>01   Validate lender criteria with adviser partners</a:t>
            </a:r>
          </a:p>
        </p:txBody>
      </p:sp>
      <p:sp>
        <p:nvSpPr>
          <p:cNvPr id="5" name="next-2">
            <a:extLst xmlns:a="http://schemas.openxmlformats.org/drawingml/2006/main">
              <a:ext uri="{FF2B5EF4-FFF2-40B4-BE49-F238E27FC236}">
                <a16:creationId xmlns:a16="http://schemas.microsoft.com/office/drawing/2014/main" id="{4A652B4A-0473-4FED-8347-515489FD48DC}"/>
              </a:ext>
            </a:extLst>
          </p:cNvPr>
          <p:cNvSpPr>
            <a:spLocks xmlns:a="http://schemas.openxmlformats.org/drawingml/2006/main" noGrp="1"/>
          </p:cNvSpPr>
          <p:nvPr/>
        </p:nvSpPr>
        <p:spPr>
          <a:xfrm xmlns:a="http://schemas.openxmlformats.org/drawingml/2006/main">
            <a:off x="781050" y="5000625"/>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11210"/>
                </a:solidFill>
                <a:latin typeface="Arial"/>
                <a:ea typeface="Arial"/>
                <a:cs typeface="Arial"/>
              </a:defRPr>
            </a:pPr>
            <a:r>
              <a:rPr sz="1500" b="0">
                <a:solidFill>
                  <a:srgbClr val="111210"/>
                </a:solidFill>
                <a:latin typeface="Arial"/>
                <a:ea typeface="Arial"/>
                <a:cs typeface="Arial"/>
              </a:rPr>
              <a:t>02   Test the workflow on more deal types</a:t>
            </a:r>
          </a:p>
        </p:txBody>
      </p:sp>
      <p:sp>
        <p:nvSpPr>
          <p:cNvPr id="6" name="next-3">
            <a:extLst xmlns:a="http://schemas.openxmlformats.org/drawingml/2006/main">
              <a:ext uri="{FF2B5EF4-FFF2-40B4-BE49-F238E27FC236}">
                <a16:creationId xmlns:a16="http://schemas.microsoft.com/office/drawing/2014/main" id="{D4ADB925-8540-4181-AA7A-1FD0F2510E65}"/>
              </a:ext>
            </a:extLst>
          </p:cNvPr>
          <p:cNvSpPr>
            <a:spLocks xmlns:a="http://schemas.openxmlformats.org/drawingml/2006/main" noGrp="1"/>
          </p:cNvSpPr>
          <p:nvPr/>
        </p:nvSpPr>
        <p:spPr>
          <a:xfrm xmlns:a="http://schemas.openxmlformats.org/drawingml/2006/main">
            <a:off x="781050" y="5476875"/>
            <a:ext cx="762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111210"/>
                </a:solidFill>
                <a:latin typeface="Arial"/>
                <a:ea typeface="Arial"/>
                <a:cs typeface="Arial"/>
              </a:defRPr>
            </a:pPr>
            <a:r>
              <a:rPr sz="1500" b="0">
                <a:solidFill>
                  <a:srgbClr val="111210"/>
                </a:solidFill>
                <a:latin typeface="Arial"/>
                <a:ea typeface="Arial"/>
                <a:cs typeface="Arial"/>
              </a:rPr>
              <a:t>03   Refine lender-ready summaries and reports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3e1ac5f412f4701"/>
          <a:stretch xmlns:a="http://schemas.openxmlformats.org/drawingml/2006/main"/>
        </p:blipFill>
        <p:spPr>
          <a:xfrm xmlns:a="http://schemas.openxmlformats.org/drawingml/2006/main">
            <a:off x="8248650" y="2422071"/>
            <a:ext cx="3238500" cy="2775857"/>
          </a:xfrm>
          <a:prstGeom xmlns:a="http://schemas.openxmlformats.org/drawingml/2006/main" prst="rect">
            <a:avLst/>
          </a:prstGeom>
        </p:spPr>
      </p:pic>
      <p:sp>
        <p:nvSpPr>
          <p:cNvPr id="8" name="thanks">
            <a:extLst xmlns:a="http://schemas.openxmlformats.org/drawingml/2006/main">
              <a:ext uri="{FF2B5EF4-FFF2-40B4-BE49-F238E27FC236}">
                <a16:creationId xmlns:a16="http://schemas.microsoft.com/office/drawing/2014/main" id="{871CA8A3-847C-4256-927C-B6F742D02363}"/>
              </a:ext>
            </a:extLst>
          </p:cNvPr>
          <p:cNvSpPr>
            <a:spLocks xmlns:a="http://schemas.openxmlformats.org/drawingml/2006/main" noGrp="1"/>
          </p:cNvSpPr>
          <p:nvPr/>
        </p:nvSpPr>
        <p:spPr>
          <a:xfrm xmlns:a="http://schemas.openxmlformats.org/drawingml/2006/main">
            <a:off x="800100" y="6115050"/>
            <a:ext cx="266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l">
              <a:defRPr sz="1125" b="1">
                <a:solidFill>
                  <a:srgbClr val="777873"/>
                </a:solidFill>
                <a:latin typeface="Arial"/>
                <a:ea typeface="Arial"/>
                <a:cs typeface="Arial"/>
              </a:defRPr>
            </a:pPr>
            <a:r>
              <a:rPr sz="1125" b="1">
                <a:solidFill>
                  <a:srgbClr val="777873"/>
                </a:solidFill>
                <a:latin typeface="Arial"/>
                <a:ea typeface="Arial"/>
                <a:cs typeface="Arial"/>
              </a:rPr>
              <a:t>Thank you</a:t>
            </a:r>
          </a:p>
        </p:txBody>
      </p:sp>
    </p:spTree>
    <p:extLst>
      <p:ext uri="{BB962C8B-B14F-4D97-AF65-F5344CB8AC3E}">
        <p14:creationId xmlns:p14="http://schemas.microsoft.com/office/powerpoint/2010/main" val="16907572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2026-09-26T22:18:02.2040000Z</dcterms:created>
  <dcterms:modified xsi:type="dcterms:W3CDTF">2026-09-26T22:18:02.2040000Z</dcterms:modified>
</coreProperties>
</file>