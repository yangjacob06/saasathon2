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5"/>
  </p:notesMasterIdLst>
  <p:sldIdLst>
    <p:sldId id="256" r:id="rId2"/>
    <p:sldId id="257" r:id="rId3"/>
    <p:sldId id="258" r:id="rId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78" d="100"/>
          <a:sy n="78" d="100"/>
        </p:scale>
        <p:origin x="850"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presProps" Target="presProps.xml"/><Relationship Id="rId5" Type="http://schemas.openxmlformats.org/officeDocument/2006/relationships/notesMaster" Target="notesMasters/notesMaster1.xml"/><Relationship Id="rId10"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Ollie Farrelly" userId="99dcdfdf1117a832" providerId="LiveId" clId="{F52A8E6C-0E35-478C-8061-335F17CB9D63}"/>
    <pc:docChg chg="undo custSel modSld">
      <pc:chgData name="Ollie Farrelly" userId="99dcdfdf1117a832" providerId="LiveId" clId="{F52A8E6C-0E35-478C-8061-335F17CB9D63}" dt="2026-09-26T22:32:11.723" v="3" actId="1076"/>
      <pc:docMkLst>
        <pc:docMk/>
      </pc:docMkLst>
      <pc:sldChg chg="addSp modSp mod">
        <pc:chgData name="Ollie Farrelly" userId="99dcdfdf1117a832" providerId="LiveId" clId="{F52A8E6C-0E35-478C-8061-335F17CB9D63}" dt="2026-09-26T22:32:11.723" v="3" actId="1076"/>
        <pc:sldMkLst>
          <pc:docMk/>
          <pc:sldMk cId="296540594" sldId="257"/>
        </pc:sldMkLst>
        <pc:spChg chg="add mod">
          <ac:chgData name="Ollie Farrelly" userId="99dcdfdf1117a832" providerId="LiveId" clId="{F52A8E6C-0E35-478C-8061-335F17CB9D63}" dt="2026-09-26T22:32:11.723" v="3" actId="1076"/>
          <ac:spMkLst>
            <pc:docMk/>
            <pc:sldMk cId="296540594" sldId="257"/>
            <ac:spMk id="16" creationId="{B7901C82-7D39-2A68-0DA5-64757DBE8BDC}"/>
          </ac:spMkLst>
        </pc:spChg>
      </pc:sldChg>
      <pc:sldChg chg="addSp delSp mod">
        <pc:chgData name="Ollie Farrelly" userId="99dcdfdf1117a832" providerId="LiveId" clId="{F52A8E6C-0E35-478C-8061-335F17CB9D63}" dt="2026-09-26T22:32:05.670" v="1" actId="22"/>
        <pc:sldMkLst>
          <pc:docMk/>
          <pc:sldMk cId="1690757209" sldId="258"/>
        </pc:sldMkLst>
        <pc:spChg chg="add del">
          <ac:chgData name="Ollie Farrelly" userId="99dcdfdf1117a832" providerId="LiveId" clId="{F52A8E6C-0E35-478C-8061-335F17CB9D63}" dt="2026-09-26T22:32:05.670" v="1" actId="22"/>
          <ac:spMkLst>
            <pc:docMk/>
            <pc:sldMk cId="1690757209" sldId="258"/>
            <ac:spMk id="10" creationId="{191EE729-C84B-C095-8869-53D89B77A2FA}"/>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Opening hook: Advisers often start with information spread across accounts, deal notes and lender criteria. Mandate brings those pieces together so the funding story is easier to review and explain. Then introduce the live demo.</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Why now: OECD's 2026 New Zealand survey says SME lending declined sharply in 2023 and 2024 and that shorter, smaller-scale finance became more common. Chambers' 2026 New Zealand private-credit guide describes additional capital, tailored structures and a market that is still developing. The opportunity for Mandate is helping advisers review the fit and prepare a clear, checked funding story. Demo link: https://mandate-ollie-software.vercel.app/</a:t>
            </a:r>
          </a:p>
          <a:p>
            <a:r>
              <a:t>Sources:</a:t>
            </a:r>
          </a:p>
          <a:p>
            <a:r>
              <a:t>OECD, OECD Economic Surveys: New Zealand 2026, https://www.oecd.org/en/publications/oecd-economic-surveys-new-zealand-2026_3ec5de98-en/full-report/unlocking-capital-markets-to-drive-growth_d1f7a7f7.html</a:t>
            </a:r>
          </a:p>
          <a:p>
            <a:r>
              <a:t>Chambers and Partners, Private Credit 2026: New Zealand, https://practiceguides.chambers.com/practice-guides/private-credit-2026/new-zealand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Close: That's how we Mandate. Invite feedback from advisers and lenders on which checks, evidence and report formats would make this most useful in practice. Suggested next steps on screen are proposed validation work, not completed commitments.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 Id="rId5" Type="http://schemas.openxmlformats.org/officeDocument/2006/relationships/hyperlink" Target="https://saasathon-2-sepia.vercel.app/" TargetMode="External"/><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3F2EE"/>
        </a:solidFill>
        <a:effectLst/>
      </p:bgPr>
    </p:bg>
    <p:spTree>
      <p:nvGrpSpPr>
        <p:cNvPr id="1" name=""/>
        <p:cNvGrpSpPr/>
        <p:nvPr/>
      </p:nvGrpSpPr>
      <p:grpSpPr>
        <a:xfrm>
          <a:off x="0" y="0"/>
          <a:ext cx="0" cy="0"/>
          <a:chOff x="0" y="0"/>
          <a:chExt cx="0" cy="0"/>
        </a:xfrm>
      </p:grpSpPr>
      <p:pic>
        <p:nvPicPr>
          <p:cNvPr id="7" name="Picture 6"/>
          <p:cNvPicPr>
            <a:picLocks noChangeAspect="1"/>
          </p:cNvPicPr>
          <p:nvPr/>
        </p:nvPicPr>
        <p:blipFill>
          <a:blip r:embed="rId3"/>
          <a:stretch/>
        </p:blipFill>
        <p:spPr>
          <a:xfrm>
            <a:off x="725202" y="457200"/>
            <a:ext cx="1950022" cy="437388"/>
          </a:xfrm>
          <a:prstGeom prst="rect">
            <a:avLst/>
          </a:prstGeom>
        </p:spPr>
      </p:pic>
      <p:pic>
        <p:nvPicPr>
          <p:cNvPr id="8" name="Picture 7"/>
          <p:cNvPicPr>
            <a:picLocks noChangeAspect="1"/>
          </p:cNvPicPr>
          <p:nvPr/>
        </p:nvPicPr>
        <p:blipFill>
          <a:blip r:embed="rId4"/>
          <a:stretch/>
        </p:blipFill>
        <p:spPr>
          <a:xfrm>
            <a:off x="7543800" y="1471613"/>
            <a:ext cx="4000500" cy="3429000"/>
          </a:xfrm>
          <a:prstGeom prst="rect">
            <a:avLst/>
          </a:prstGeom>
        </p:spPr>
      </p:pic>
      <p:sp>
        <p:nvSpPr>
          <p:cNvPr id="3" name="title">
            <a:extLst>
              <a:ext uri="{FF2B5EF4-FFF2-40B4-BE49-F238E27FC236}">
                <a16:creationId xmlns:a16="http://schemas.microsoft.com/office/drawing/2014/main" id="{891CD8C3-9934-4CF3-BD06-1DCE1BBD46BD}"/>
              </a:ext>
            </a:extLst>
          </p:cNvPr>
          <p:cNvSpPr>
            <a:spLocks noGrp="1"/>
          </p:cNvSpPr>
          <p:nvPr/>
        </p:nvSpPr>
        <p:spPr>
          <a:xfrm>
            <a:off x="685800" y="1809750"/>
            <a:ext cx="6953250" cy="1238250"/>
          </a:xfrm>
          <a:prstGeom prst="rect">
            <a:avLst/>
          </a:prstGeom>
          <a:noFill/>
          <a:ln w="0">
            <a:noFill/>
          </a:ln>
        </p:spPr>
        <p:txBody>
          <a:bodyPr anchor="ctr">
            <a:normAutofit/>
          </a:bodyPr>
          <a:lstStyle/>
          <a:p>
            <a:pPr algn="l">
              <a:defRPr sz="6900" b="0">
                <a:solidFill>
                  <a:srgbClr val="111210"/>
                </a:solidFill>
                <a:latin typeface="Georgia"/>
                <a:ea typeface="Georgia"/>
                <a:cs typeface="Georgia"/>
              </a:defRPr>
            </a:pPr>
            <a:r>
              <a:rPr sz="6900" b="0">
                <a:solidFill>
                  <a:srgbClr val="111210"/>
                </a:solidFill>
                <a:latin typeface="Georgia"/>
                <a:ea typeface="Georgia"/>
                <a:cs typeface="Georgia"/>
              </a:rPr>
              <a:t>Mandate</a:t>
            </a:r>
          </a:p>
        </p:txBody>
      </p:sp>
      <p:sp>
        <p:nvSpPr>
          <p:cNvPr id="4" name="direction">
            <a:extLst>
              <a:ext uri="{FF2B5EF4-FFF2-40B4-BE49-F238E27FC236}">
                <a16:creationId xmlns:a16="http://schemas.microsoft.com/office/drawing/2014/main" id="{4F2F5855-88B8-4504-966C-068DD2E513CD}"/>
              </a:ext>
            </a:extLst>
          </p:cNvPr>
          <p:cNvSpPr>
            <a:spLocks noGrp="1"/>
          </p:cNvSpPr>
          <p:nvPr/>
        </p:nvSpPr>
        <p:spPr>
          <a:xfrm>
            <a:off x="762000" y="3162300"/>
            <a:ext cx="6477000" cy="504825"/>
          </a:xfrm>
          <a:prstGeom prst="rect">
            <a:avLst/>
          </a:prstGeom>
          <a:noFill/>
          <a:ln w="0">
            <a:noFill/>
          </a:ln>
        </p:spPr>
        <p:txBody>
          <a:bodyPr anchor="ctr">
            <a:normAutofit/>
          </a:bodyPr>
          <a:lstStyle/>
          <a:p>
            <a:pPr algn="l">
              <a:defRPr sz="2625" b="0">
                <a:solidFill>
                  <a:srgbClr val="5B7CFF"/>
                </a:solidFill>
                <a:latin typeface="Georgia"/>
                <a:ea typeface="Georgia"/>
                <a:cs typeface="Georgia"/>
              </a:defRPr>
            </a:pPr>
            <a:r>
              <a:rPr sz="2625" b="0">
                <a:solidFill>
                  <a:srgbClr val="5B7CFF"/>
                </a:solidFill>
                <a:latin typeface="Georgia"/>
                <a:ea typeface="Georgia"/>
                <a:cs typeface="Georgia"/>
              </a:rPr>
              <a:t>The right connection.</a:t>
            </a:r>
          </a:p>
        </p:txBody>
      </p:sp>
      <p:sp>
        <p:nvSpPr>
          <p:cNvPr id="5" name="hook">
            <a:extLst>
              <a:ext uri="{FF2B5EF4-FFF2-40B4-BE49-F238E27FC236}">
                <a16:creationId xmlns:a16="http://schemas.microsoft.com/office/drawing/2014/main" id="{08799D5B-515A-438D-A046-EDA17F18613D}"/>
              </a:ext>
            </a:extLst>
          </p:cNvPr>
          <p:cNvSpPr>
            <a:spLocks noGrp="1"/>
          </p:cNvSpPr>
          <p:nvPr/>
        </p:nvSpPr>
        <p:spPr>
          <a:xfrm>
            <a:off x="762000" y="3905250"/>
            <a:ext cx="5667375" cy="952500"/>
          </a:xfrm>
          <a:prstGeom prst="rect">
            <a:avLst/>
          </a:prstGeom>
          <a:noFill/>
          <a:ln w="0">
            <a:noFill/>
          </a:ln>
        </p:spPr>
        <p:txBody>
          <a:bodyPr anchor="ctr">
            <a:normAutofit/>
          </a:bodyPr>
          <a:lstStyle/>
          <a:p>
            <a:pPr algn="l">
              <a:defRPr sz="2100" b="0">
                <a:solidFill>
                  <a:srgbClr val="111210"/>
                </a:solidFill>
                <a:latin typeface="Georgia"/>
                <a:ea typeface="Georgia"/>
                <a:cs typeface="Georgia"/>
              </a:defRPr>
            </a:pPr>
            <a:r>
              <a:rPr sz="2100" b="0">
                <a:solidFill>
                  <a:srgbClr val="111210"/>
                </a:solidFill>
                <a:latin typeface="Georgia"/>
                <a:ea typeface="Georgia"/>
                <a:cs typeface="Georgia"/>
              </a:rPr>
              <a:t>A clearer path from business information to lender conversations.</a:t>
            </a:r>
          </a:p>
        </p:txBody>
      </p:sp>
      <p:sp>
        <p:nvSpPr>
          <p:cNvPr id="6" name="footer">
            <a:extLst>
              <a:ext uri="{FF2B5EF4-FFF2-40B4-BE49-F238E27FC236}">
                <a16:creationId xmlns:a16="http://schemas.microsoft.com/office/drawing/2014/main" id="{6C21E9CA-3BCC-4755-A554-27A02A975AAE}"/>
              </a:ext>
            </a:extLst>
          </p:cNvPr>
          <p:cNvSpPr>
            <a:spLocks noGrp="1"/>
          </p:cNvSpPr>
          <p:nvPr/>
        </p:nvSpPr>
        <p:spPr>
          <a:xfrm>
            <a:off x="762000" y="6000750"/>
            <a:ext cx="6667500" cy="247650"/>
          </a:xfrm>
          <a:prstGeom prst="rect">
            <a:avLst/>
          </a:prstGeom>
          <a:noFill/>
          <a:ln w="0">
            <a:noFill/>
          </a:ln>
        </p:spPr>
        <p:txBody>
          <a:bodyPr anchor="ctr">
            <a:normAutofit/>
          </a:bodyPr>
          <a:lstStyle/>
          <a:p>
            <a:pPr algn="l">
              <a:defRPr sz="975" b="1">
                <a:solidFill>
                  <a:srgbClr val="777873"/>
                </a:solidFill>
                <a:latin typeface="Arial"/>
                <a:ea typeface="Arial"/>
                <a:cs typeface="Arial"/>
              </a:defRPr>
            </a:pPr>
            <a:r>
              <a:rPr sz="975" b="1">
                <a:solidFill>
                  <a:srgbClr val="777873"/>
                </a:solidFill>
                <a:latin typeface="Arial"/>
                <a:ea typeface="Arial"/>
                <a:cs typeface="Arial"/>
              </a:rPr>
              <a:t>PRIVATE CREDIT, MADE CLEARER FOR ADVISERS</a:t>
            </a:r>
          </a:p>
        </p:txBody>
      </p:sp>
    </p:spTree>
    <p:extLst>
      <p:ext uri="{BB962C8B-B14F-4D97-AF65-F5344CB8AC3E}">
        <p14:creationId xmlns:p14="http://schemas.microsoft.com/office/powerpoint/2010/main" val="148032591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15" name="Picture 14"/>
          <p:cNvPicPr>
            <a:picLocks noChangeAspect="1"/>
          </p:cNvPicPr>
          <p:nvPr/>
        </p:nvPicPr>
        <p:blipFill>
          <a:blip r:embed="rId3"/>
          <a:stretch/>
        </p:blipFill>
        <p:spPr>
          <a:xfrm>
            <a:off x="667817" y="381000"/>
            <a:ext cx="1598066" cy="358445"/>
          </a:xfrm>
          <a:prstGeom prst="rect">
            <a:avLst/>
          </a:prstGeom>
        </p:spPr>
      </p:pic>
      <p:sp>
        <p:nvSpPr>
          <p:cNvPr id="2" name="title">
            <a:extLst>
              <a:ext uri="{FF2B5EF4-FFF2-40B4-BE49-F238E27FC236}">
                <a16:creationId xmlns:a16="http://schemas.microsoft.com/office/drawing/2014/main" id="{03D1A3F9-4DD6-471A-A723-27CFF539EDBE}"/>
              </a:ext>
            </a:extLst>
          </p:cNvPr>
          <p:cNvSpPr>
            <a:spLocks noGrp="1"/>
          </p:cNvSpPr>
          <p:nvPr/>
        </p:nvSpPr>
        <p:spPr>
          <a:xfrm>
            <a:off x="666750" y="1066800"/>
            <a:ext cx="8382000" cy="647700"/>
          </a:xfrm>
          <a:prstGeom prst="rect">
            <a:avLst/>
          </a:prstGeom>
          <a:noFill/>
          <a:ln w="0">
            <a:noFill/>
          </a:ln>
        </p:spPr>
        <p:txBody>
          <a:bodyPr anchor="ctr">
            <a:normAutofit/>
          </a:bodyPr>
          <a:lstStyle/>
          <a:p>
            <a:pPr algn="l">
              <a:defRPr sz="3525" b="0">
                <a:solidFill>
                  <a:srgbClr val="111210"/>
                </a:solidFill>
                <a:latin typeface="Georgia"/>
                <a:ea typeface="Georgia"/>
                <a:cs typeface="Georgia"/>
              </a:defRPr>
            </a:pPr>
            <a:r>
              <a:rPr sz="3525" b="0">
                <a:solidFill>
                  <a:srgbClr val="111210"/>
                </a:solidFill>
                <a:latin typeface="Georgia"/>
                <a:ea typeface="Georgia"/>
                <a:cs typeface="Georgia"/>
              </a:rPr>
              <a:t>Why now: private credit</a:t>
            </a:r>
          </a:p>
        </p:txBody>
      </p:sp>
      <p:sp>
        <p:nvSpPr>
          <p:cNvPr id="3" name="subtitle">
            <a:extLst>
              <a:ext uri="{FF2B5EF4-FFF2-40B4-BE49-F238E27FC236}">
                <a16:creationId xmlns:a16="http://schemas.microsoft.com/office/drawing/2014/main" id="{9FB229E6-B1C9-406E-8F55-2002C5324309}"/>
              </a:ext>
            </a:extLst>
          </p:cNvPr>
          <p:cNvSpPr>
            <a:spLocks noGrp="1"/>
          </p:cNvSpPr>
          <p:nvPr/>
        </p:nvSpPr>
        <p:spPr>
          <a:xfrm>
            <a:off x="685800" y="1743075"/>
            <a:ext cx="8143875" cy="323850"/>
          </a:xfrm>
          <a:prstGeom prst="rect">
            <a:avLst/>
          </a:prstGeom>
          <a:noFill/>
          <a:ln w="0">
            <a:noFill/>
          </a:ln>
        </p:spPr>
        <p:txBody>
          <a:bodyPr anchor="ctr">
            <a:normAutofit/>
          </a:bodyPr>
          <a:lstStyle/>
          <a:p>
            <a:pPr algn="l">
              <a:defRPr sz="1500" b="0">
                <a:solidFill>
                  <a:srgbClr val="777873"/>
                </a:solidFill>
                <a:latin typeface="Arial"/>
                <a:ea typeface="Arial"/>
                <a:cs typeface="Arial"/>
              </a:defRPr>
            </a:pPr>
            <a:r>
              <a:rPr sz="1500" b="0">
                <a:solidFill>
                  <a:srgbClr val="777873"/>
                </a:solidFill>
                <a:latin typeface="Arial"/>
                <a:ea typeface="Arial"/>
                <a:cs typeface="Arial"/>
              </a:rPr>
              <a:t>New Zealand businesses face changing funding options.</a:t>
            </a:r>
          </a:p>
        </p:txBody>
      </p:sp>
      <p:sp>
        <p:nvSpPr>
          <p:cNvPr id="4" name="period">
            <a:extLst>
              <a:ext uri="{FF2B5EF4-FFF2-40B4-BE49-F238E27FC236}">
                <a16:creationId xmlns:a16="http://schemas.microsoft.com/office/drawing/2014/main" id="{E5DE4784-04A9-4122-B82E-EA5D993B78F2}"/>
              </a:ext>
            </a:extLst>
          </p:cNvPr>
          <p:cNvSpPr>
            <a:spLocks noGrp="1"/>
          </p:cNvSpPr>
          <p:nvPr/>
        </p:nvSpPr>
        <p:spPr>
          <a:xfrm>
            <a:off x="723900" y="2590800"/>
            <a:ext cx="3238500" cy="723900"/>
          </a:xfrm>
          <a:prstGeom prst="rect">
            <a:avLst/>
          </a:prstGeom>
          <a:noFill/>
          <a:ln w="0">
            <a:noFill/>
          </a:ln>
        </p:spPr>
        <p:txBody>
          <a:bodyPr anchor="ctr">
            <a:normAutofit/>
          </a:bodyPr>
          <a:lstStyle/>
          <a:p>
            <a:pPr algn="l">
              <a:defRPr sz="3975" b="0">
                <a:solidFill>
                  <a:srgbClr val="5B7CFF"/>
                </a:solidFill>
                <a:latin typeface="Georgia"/>
                <a:ea typeface="Georgia"/>
                <a:cs typeface="Georgia"/>
              </a:defRPr>
            </a:pPr>
            <a:r>
              <a:rPr sz="3975" b="0">
                <a:solidFill>
                  <a:srgbClr val="5B7CFF"/>
                </a:solidFill>
                <a:latin typeface="Georgia"/>
                <a:ea typeface="Georgia"/>
                <a:cs typeface="Georgia"/>
              </a:rPr>
              <a:t>2023–24</a:t>
            </a:r>
          </a:p>
        </p:txBody>
      </p:sp>
      <p:sp>
        <p:nvSpPr>
          <p:cNvPr id="5" name="fact-one">
            <a:extLst>
              <a:ext uri="{FF2B5EF4-FFF2-40B4-BE49-F238E27FC236}">
                <a16:creationId xmlns:a16="http://schemas.microsoft.com/office/drawing/2014/main" id="{3C9CDDF5-4FFC-457A-8735-1B21BA1141DE}"/>
              </a:ext>
            </a:extLst>
          </p:cNvPr>
          <p:cNvSpPr>
            <a:spLocks noGrp="1"/>
          </p:cNvSpPr>
          <p:nvPr/>
        </p:nvSpPr>
        <p:spPr>
          <a:xfrm>
            <a:off x="742950" y="3333750"/>
            <a:ext cx="4333875" cy="1066800"/>
          </a:xfrm>
          <a:prstGeom prst="rect">
            <a:avLst/>
          </a:prstGeom>
          <a:noFill/>
          <a:ln w="0">
            <a:noFill/>
          </a:ln>
        </p:spPr>
        <p:txBody>
          <a:bodyPr anchor="ctr">
            <a:normAutofit/>
          </a:bodyPr>
          <a:lstStyle/>
          <a:p>
            <a:pPr algn="l">
              <a:defRPr sz="1725" b="0">
                <a:solidFill>
                  <a:srgbClr val="111210"/>
                </a:solidFill>
                <a:latin typeface="Georgia"/>
                <a:ea typeface="Georgia"/>
                <a:cs typeface="Georgia"/>
              </a:defRPr>
            </a:pPr>
            <a:r>
              <a:rPr sz="1725" b="0">
                <a:solidFill>
                  <a:srgbClr val="111210"/>
                </a:solidFill>
                <a:latin typeface="Georgia"/>
                <a:ea typeface="Georgia"/>
                <a:cs typeface="Georgia"/>
              </a:rPr>
              <a:t>SME lending declined, while shorter, smaller-scale finance became more common.</a:t>
            </a:r>
          </a:p>
        </p:txBody>
      </p:sp>
      <p:sp>
        <p:nvSpPr>
          <p:cNvPr id="6" name="fact-one-source">
            <a:extLst>
              <a:ext uri="{FF2B5EF4-FFF2-40B4-BE49-F238E27FC236}">
                <a16:creationId xmlns:a16="http://schemas.microsoft.com/office/drawing/2014/main" id="{5A0D4DE2-B9BC-4B2B-A181-C38EDCD68102}"/>
              </a:ext>
            </a:extLst>
          </p:cNvPr>
          <p:cNvSpPr>
            <a:spLocks noGrp="1"/>
          </p:cNvSpPr>
          <p:nvPr/>
        </p:nvSpPr>
        <p:spPr>
          <a:xfrm>
            <a:off x="742950" y="4524375"/>
            <a:ext cx="4476750" cy="228600"/>
          </a:xfrm>
          <a:prstGeom prst="rect">
            <a:avLst/>
          </a:prstGeom>
          <a:noFill/>
          <a:ln w="0">
            <a:noFill/>
          </a:ln>
        </p:spPr>
        <p:txBody>
          <a:bodyPr anchor="ctr">
            <a:normAutofit/>
          </a:bodyPr>
          <a:lstStyle/>
          <a:p>
            <a:pPr algn="l">
              <a:defRPr sz="900" b="0">
                <a:solidFill>
                  <a:srgbClr val="777873"/>
                </a:solidFill>
                <a:latin typeface="Arial"/>
                <a:ea typeface="Arial"/>
                <a:cs typeface="Arial"/>
              </a:defRPr>
            </a:pPr>
            <a:r>
              <a:rPr sz="900" b="0">
                <a:solidFill>
                  <a:srgbClr val="777873"/>
                </a:solidFill>
                <a:latin typeface="Arial"/>
                <a:ea typeface="Arial"/>
                <a:cs typeface="Arial"/>
              </a:rPr>
              <a:t>OECD Economic Surveys: New Zealand 2026</a:t>
            </a:r>
          </a:p>
        </p:txBody>
      </p:sp>
      <p:sp>
        <p:nvSpPr>
          <p:cNvPr id="7" name="fact-two-kicker">
            <a:extLst>
              <a:ext uri="{FF2B5EF4-FFF2-40B4-BE49-F238E27FC236}">
                <a16:creationId xmlns:a16="http://schemas.microsoft.com/office/drawing/2014/main" id="{C4672817-A236-4436-9438-4A9B6ED6E3CE}"/>
              </a:ext>
            </a:extLst>
          </p:cNvPr>
          <p:cNvSpPr>
            <a:spLocks noGrp="1"/>
          </p:cNvSpPr>
          <p:nvPr/>
        </p:nvSpPr>
        <p:spPr>
          <a:xfrm>
            <a:off x="5715000" y="2619375"/>
            <a:ext cx="4524375" cy="400050"/>
          </a:xfrm>
          <a:prstGeom prst="rect">
            <a:avLst/>
          </a:prstGeom>
          <a:noFill/>
          <a:ln w="0">
            <a:noFill/>
          </a:ln>
        </p:spPr>
        <p:txBody>
          <a:bodyPr anchor="ctr">
            <a:normAutofit/>
          </a:bodyPr>
          <a:lstStyle/>
          <a:p>
            <a:pPr algn="l">
              <a:defRPr sz="1575" b="1">
                <a:solidFill>
                  <a:srgbClr val="5B7CFF"/>
                </a:solidFill>
                <a:latin typeface="Arial"/>
                <a:ea typeface="Arial"/>
                <a:cs typeface="Arial"/>
              </a:defRPr>
            </a:pPr>
            <a:r>
              <a:rPr sz="1575" b="1">
                <a:solidFill>
                  <a:srgbClr val="5B7CFF"/>
                </a:solidFill>
                <a:latin typeface="Arial"/>
                <a:ea typeface="Arial"/>
                <a:cs typeface="Arial"/>
              </a:rPr>
              <a:t>A broader set of lenders</a:t>
            </a:r>
          </a:p>
        </p:txBody>
      </p:sp>
      <p:sp>
        <p:nvSpPr>
          <p:cNvPr id="8" name="fact-two">
            <a:extLst>
              <a:ext uri="{FF2B5EF4-FFF2-40B4-BE49-F238E27FC236}">
                <a16:creationId xmlns:a16="http://schemas.microsoft.com/office/drawing/2014/main" id="{1BFEAD8A-68F1-4083-94E9-0D23E3813098}"/>
              </a:ext>
            </a:extLst>
          </p:cNvPr>
          <p:cNvSpPr>
            <a:spLocks noGrp="1"/>
          </p:cNvSpPr>
          <p:nvPr/>
        </p:nvSpPr>
        <p:spPr>
          <a:xfrm>
            <a:off x="5715000" y="3067050"/>
            <a:ext cx="4191000" cy="1257300"/>
          </a:xfrm>
          <a:prstGeom prst="rect">
            <a:avLst/>
          </a:prstGeom>
          <a:noFill/>
          <a:ln w="0">
            <a:noFill/>
          </a:ln>
        </p:spPr>
        <p:txBody>
          <a:bodyPr anchor="ctr">
            <a:normAutofit/>
          </a:bodyPr>
          <a:lstStyle/>
          <a:p>
            <a:pPr algn="l">
              <a:defRPr sz="1725" b="0">
                <a:solidFill>
                  <a:srgbClr val="111210"/>
                </a:solidFill>
                <a:latin typeface="Georgia"/>
                <a:ea typeface="Georgia"/>
                <a:cs typeface="Georgia"/>
              </a:defRPr>
            </a:pPr>
            <a:r>
              <a:rPr sz="1725" b="0">
                <a:solidFill>
                  <a:srgbClr val="111210"/>
                </a:solidFill>
                <a:latin typeface="Georgia"/>
                <a:ea typeface="Georgia"/>
                <a:cs typeface="Georgia"/>
              </a:rPr>
              <a:t>Private credit is attracting new capital and can offer tailored structures. Each fund still brings its own criteria.</a:t>
            </a:r>
          </a:p>
        </p:txBody>
      </p:sp>
      <p:pic>
        <p:nvPicPr>
          <p:cNvPr id="23" name="Picture 22"/>
          <p:cNvPicPr>
            <a:picLocks noChangeAspect="1"/>
          </p:cNvPicPr>
          <p:nvPr/>
        </p:nvPicPr>
        <p:blipFill>
          <a:blip r:embed="rId4"/>
          <a:stretch/>
        </p:blipFill>
        <p:spPr>
          <a:xfrm>
            <a:off x="9620250" y="2459491"/>
            <a:ext cx="2095500" cy="1796143"/>
          </a:xfrm>
          <a:prstGeom prst="rect">
            <a:avLst/>
          </a:prstGeom>
        </p:spPr>
      </p:pic>
      <p:sp>
        <p:nvSpPr>
          <p:cNvPr id="10" name="takeaway">
            <a:extLst>
              <a:ext uri="{FF2B5EF4-FFF2-40B4-BE49-F238E27FC236}">
                <a16:creationId xmlns:a16="http://schemas.microsoft.com/office/drawing/2014/main" id="{5057BA37-24C6-4091-B89A-C65540FBA1AA}"/>
              </a:ext>
            </a:extLst>
          </p:cNvPr>
          <p:cNvSpPr>
            <a:spLocks noGrp="1"/>
          </p:cNvSpPr>
          <p:nvPr/>
        </p:nvSpPr>
        <p:spPr>
          <a:xfrm>
            <a:off x="723900" y="5000625"/>
            <a:ext cx="7810500" cy="476250"/>
          </a:xfrm>
          <a:prstGeom prst="rect">
            <a:avLst/>
          </a:prstGeom>
          <a:noFill/>
          <a:ln w="0">
            <a:noFill/>
          </a:ln>
        </p:spPr>
        <p:txBody>
          <a:bodyPr anchor="ctr">
            <a:normAutofit fontScale="90482"/>
          </a:bodyPr>
          <a:lstStyle/>
          <a:p>
            <a:pPr algn="l">
              <a:defRPr sz="1875" b="1">
                <a:solidFill>
                  <a:srgbClr val="111210"/>
                </a:solidFill>
                <a:latin typeface="Arial"/>
                <a:ea typeface="Arial"/>
                <a:cs typeface="Arial"/>
              </a:defRPr>
            </a:pPr>
            <a:r>
              <a:rPr sz="1875" b="1">
                <a:solidFill>
                  <a:srgbClr val="111210"/>
                </a:solidFill>
                <a:latin typeface="Arial"/>
                <a:ea typeface="Arial"/>
                <a:cs typeface="Arial"/>
              </a:rPr>
              <a:t>Advisers need a clear way to compare each deal with lender requirements.</a:t>
            </a:r>
          </a:p>
        </p:txBody>
      </p:sp>
      <p:sp>
        <p:nvSpPr>
          <p:cNvPr id="11" name="demo-strip">
            <a:extLst>
              <a:ext uri="{FF2B5EF4-FFF2-40B4-BE49-F238E27FC236}">
                <a16:creationId xmlns:a16="http://schemas.microsoft.com/office/drawing/2014/main" id="{EB3E6B5E-5A57-4361-BC68-B5799AB1CACE}"/>
              </a:ext>
            </a:extLst>
          </p:cNvPr>
          <p:cNvSpPr>
            <a:spLocks noGrp="1"/>
          </p:cNvSpPr>
          <p:nvPr/>
        </p:nvSpPr>
        <p:spPr>
          <a:xfrm>
            <a:off x="666750" y="5724525"/>
            <a:ext cx="10858500" cy="704850"/>
          </a:xfrm>
          <a:prstGeom prst="roundRect">
            <a:avLst>
              <a:gd name="adj" fmla="val 10811"/>
            </a:avLst>
          </a:prstGeom>
          <a:solidFill>
            <a:srgbClr val="E9EDFF"/>
          </a:solidFill>
          <a:ln w="0">
            <a:noFill/>
          </a:ln>
        </p:spPr>
        <p:txBody>
          <a:bodyPr/>
          <a:lstStyle/>
          <a:p>
            <a:endParaRPr lang="en-NZ"/>
          </a:p>
        </p:txBody>
      </p:sp>
      <p:sp>
        <p:nvSpPr>
          <p:cNvPr id="12" name="demo-label">
            <a:extLst>
              <a:ext uri="{FF2B5EF4-FFF2-40B4-BE49-F238E27FC236}">
                <a16:creationId xmlns:a16="http://schemas.microsoft.com/office/drawing/2014/main" id="{EA5143A5-9E12-4CC9-AD04-E47CDDAE101A}"/>
              </a:ext>
            </a:extLst>
          </p:cNvPr>
          <p:cNvSpPr>
            <a:spLocks noGrp="1"/>
          </p:cNvSpPr>
          <p:nvPr/>
        </p:nvSpPr>
        <p:spPr>
          <a:xfrm>
            <a:off x="876300" y="5857875"/>
            <a:ext cx="1238250" cy="190500"/>
          </a:xfrm>
          <a:prstGeom prst="rect">
            <a:avLst/>
          </a:prstGeom>
          <a:noFill/>
          <a:ln w="0">
            <a:noFill/>
          </a:ln>
        </p:spPr>
        <p:txBody>
          <a:bodyPr anchor="ctr">
            <a:normAutofit fontScale="72222"/>
          </a:bodyPr>
          <a:lstStyle/>
          <a:p>
            <a:pPr algn="l">
              <a:defRPr sz="900" b="1">
                <a:solidFill>
                  <a:srgbClr val="5B7CFF"/>
                </a:solidFill>
                <a:latin typeface="Arial"/>
                <a:ea typeface="Arial"/>
                <a:cs typeface="Arial"/>
              </a:defRPr>
            </a:pPr>
            <a:r>
              <a:rPr sz="900" b="1">
                <a:solidFill>
                  <a:srgbClr val="5B7CFF"/>
                </a:solidFill>
                <a:latin typeface="Arial"/>
                <a:ea typeface="Arial"/>
                <a:cs typeface="Arial"/>
              </a:rPr>
              <a:t>LIVE DEMO</a:t>
            </a:r>
          </a:p>
        </p:txBody>
      </p:sp>
      <p:sp>
        <p:nvSpPr>
          <p:cNvPr id="13" name="demo-url">
            <a:extLst>
              <a:ext uri="{FF2B5EF4-FFF2-40B4-BE49-F238E27FC236}">
                <a16:creationId xmlns:a16="http://schemas.microsoft.com/office/drawing/2014/main" id="{1EA84CAE-D442-4FCF-B24F-4E0F909CA48A}"/>
              </a:ext>
            </a:extLst>
          </p:cNvPr>
          <p:cNvSpPr>
            <a:spLocks noGrp="1"/>
          </p:cNvSpPr>
          <p:nvPr/>
        </p:nvSpPr>
        <p:spPr>
          <a:xfrm>
            <a:off x="876300" y="6048375"/>
            <a:ext cx="4762500" cy="238125"/>
          </a:xfrm>
          <a:prstGeom prst="rect">
            <a:avLst/>
          </a:prstGeom>
          <a:noFill/>
          <a:ln w="0">
            <a:noFill/>
          </a:ln>
        </p:spPr>
        <p:txBody>
          <a:bodyPr anchor="ctr">
            <a:normAutofit fontScale="75490"/>
          </a:bodyPr>
          <a:lstStyle/>
          <a:p>
            <a:pPr algn="l">
              <a:defRPr sz="1275" b="1">
                <a:solidFill>
                  <a:srgbClr val="111210"/>
                </a:solidFill>
                <a:latin typeface="Arial"/>
                <a:ea typeface="Arial"/>
                <a:cs typeface="Arial"/>
              </a:defRPr>
            </a:pPr>
            <a:r>
              <a:rPr sz="1275" b="1">
                <a:solidFill>
                  <a:srgbClr val="111210"/>
                </a:solidFill>
                <a:latin typeface="Arial"/>
                <a:ea typeface="Arial"/>
                <a:cs typeface="Arial"/>
              </a:rPr>
              <a:t>mandate-ollie-software.vercel.app</a:t>
            </a:r>
          </a:p>
        </p:txBody>
      </p:sp>
      <p:sp>
        <p:nvSpPr>
          <p:cNvPr id="14" name="handoff">
            <a:extLst>
              <a:ext uri="{FF2B5EF4-FFF2-40B4-BE49-F238E27FC236}">
                <a16:creationId xmlns:a16="http://schemas.microsoft.com/office/drawing/2014/main" id="{E2E5EE7D-CA05-4C6A-8D0C-8B85FE1E4C13}"/>
              </a:ext>
            </a:extLst>
          </p:cNvPr>
          <p:cNvSpPr>
            <a:spLocks noGrp="1"/>
          </p:cNvSpPr>
          <p:nvPr/>
        </p:nvSpPr>
        <p:spPr>
          <a:xfrm>
            <a:off x="5810250" y="5943600"/>
            <a:ext cx="5381625" cy="304800"/>
          </a:xfrm>
          <a:prstGeom prst="rect">
            <a:avLst/>
          </a:prstGeom>
          <a:noFill/>
          <a:ln w="0">
            <a:noFill/>
          </a:ln>
        </p:spPr>
        <p:txBody>
          <a:bodyPr anchor="ctr">
            <a:normAutofit/>
          </a:bodyPr>
          <a:lstStyle/>
          <a:p>
            <a:pPr algn="l">
              <a:defRPr sz="1125" b="0">
                <a:solidFill>
                  <a:srgbClr val="111210"/>
                </a:solidFill>
                <a:latin typeface="Arial"/>
                <a:ea typeface="Arial"/>
                <a:cs typeface="Arial"/>
              </a:defRPr>
            </a:pPr>
            <a:r>
              <a:rPr sz="1125" b="0">
                <a:solidFill>
                  <a:srgbClr val="111210"/>
                </a:solidFill>
                <a:latin typeface="Arial"/>
                <a:ea typeface="Arial"/>
                <a:cs typeface="Arial"/>
              </a:rPr>
              <a:t>Open the site for the product walkthrough, then return here for the close.</a:t>
            </a:r>
          </a:p>
        </p:txBody>
      </p:sp>
      <p:sp>
        <p:nvSpPr>
          <p:cNvPr id="16" name="Rectangle 15">
            <a:extLst>
              <a:ext uri="{FF2B5EF4-FFF2-40B4-BE49-F238E27FC236}">
                <a16:creationId xmlns:a16="http://schemas.microsoft.com/office/drawing/2014/main" id="{B7901C82-7D39-2A68-0DA5-64757DBE8BDC}"/>
              </a:ext>
            </a:extLst>
          </p:cNvPr>
          <p:cNvSpPr>
            <a:spLocks noGrp="1"/>
          </p:cNvSpPr>
          <p:nvPr/>
        </p:nvSpPr>
        <p:spPr>
          <a:xfrm>
            <a:off x="8143875" y="595313"/>
            <a:ext cx="4191000" cy="266700"/>
          </a:xfrm>
          <a:prstGeom prst="rect">
            <a:avLst/>
          </a:prstGeom>
          <a:noFill/>
          <a:ln w="0">
            <a:noFill/>
          </a:ln>
        </p:spPr>
        <p:txBody>
          <a:bodyPr anchor="ctr">
            <a:normAutofit/>
          </a:bodyPr>
          <a:lstStyle/>
          <a:p>
            <a:pPr algn="l">
              <a:defRPr sz="1125" b="1" i="0">
                <a:solidFill>
                  <a:srgbClr val="5B7CFF"/>
                </a:solidFill>
                <a:latin typeface="Helvetica Neue"/>
                <a:ea typeface="Helvetica Neue"/>
                <a:cs typeface="Helvetica Neue"/>
              </a:defRPr>
            </a:pPr>
            <a:r>
              <a:rPr sz="1125" b="1" i="0" dirty="0">
                <a:solidFill>
                  <a:srgbClr val="5B7CFF"/>
                </a:solidFill>
                <a:latin typeface="Helvetica Neue"/>
                <a:ea typeface="Helvetica Neue"/>
                <a:cs typeface="Helvetica Neue"/>
                <a:hlinkClick r:id="rId5"/>
              </a:rPr>
              <a:t>OPEN THE LIVE MANDATE DEMO  ↗</a:t>
            </a:r>
          </a:p>
        </p:txBody>
      </p:sp>
    </p:spTree>
    <p:extLst>
      <p:ext uri="{BB962C8B-B14F-4D97-AF65-F5344CB8AC3E}">
        <p14:creationId xmlns:p14="http://schemas.microsoft.com/office/powerpoint/2010/main" val="29654059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3F2EE"/>
        </a:solidFill>
        <a:effectLst/>
      </p:bgPr>
    </p:bg>
    <p:spTree>
      <p:nvGrpSpPr>
        <p:cNvPr id="1" name=""/>
        <p:cNvGrpSpPr/>
        <p:nvPr/>
      </p:nvGrpSpPr>
      <p:grpSpPr>
        <a:xfrm>
          <a:off x="0" y="0"/>
          <a:ext cx="0" cy="0"/>
          <a:chOff x="0" y="0"/>
          <a:chExt cx="0" cy="0"/>
        </a:xfrm>
      </p:grpSpPr>
      <p:pic>
        <p:nvPicPr>
          <p:cNvPr id="9" name="Picture 8"/>
          <p:cNvPicPr>
            <a:picLocks noChangeAspect="1"/>
          </p:cNvPicPr>
          <p:nvPr/>
        </p:nvPicPr>
        <p:blipFill>
          <a:blip r:embed="rId3"/>
          <a:stretch/>
        </p:blipFill>
        <p:spPr>
          <a:xfrm>
            <a:off x="725107" y="438150"/>
            <a:ext cx="1807337" cy="405384"/>
          </a:xfrm>
          <a:prstGeom prst="rect">
            <a:avLst/>
          </a:prstGeom>
        </p:spPr>
      </p:pic>
      <p:sp>
        <p:nvSpPr>
          <p:cNvPr id="2" name="close">
            <a:extLst>
              <a:ext uri="{FF2B5EF4-FFF2-40B4-BE49-F238E27FC236}">
                <a16:creationId xmlns:a16="http://schemas.microsoft.com/office/drawing/2014/main" id="{C2653502-3D82-4A87-A416-4217C37D0DBD}"/>
              </a:ext>
            </a:extLst>
          </p:cNvPr>
          <p:cNvSpPr>
            <a:spLocks noGrp="1"/>
          </p:cNvSpPr>
          <p:nvPr/>
        </p:nvSpPr>
        <p:spPr>
          <a:xfrm>
            <a:off x="742950" y="1428750"/>
            <a:ext cx="7239000" cy="2095500"/>
          </a:xfrm>
          <a:prstGeom prst="rect">
            <a:avLst/>
          </a:prstGeom>
          <a:noFill/>
          <a:ln w="0">
            <a:noFill/>
          </a:ln>
        </p:spPr>
        <p:txBody>
          <a:bodyPr anchor="ctr">
            <a:normAutofit/>
          </a:bodyPr>
          <a:lstStyle/>
          <a:p>
            <a:pPr algn="l">
              <a:defRPr sz="5100" b="0">
                <a:solidFill>
                  <a:srgbClr val="111210"/>
                </a:solidFill>
                <a:latin typeface="Georgia"/>
                <a:ea typeface="Georgia"/>
                <a:cs typeface="Georgia"/>
              </a:defRPr>
            </a:pPr>
            <a:r>
              <a:rPr sz="5100" b="0">
                <a:solidFill>
                  <a:srgbClr val="111210"/>
                </a:solidFill>
                <a:latin typeface="Georgia"/>
                <a:ea typeface="Georgia"/>
                <a:cs typeface="Georgia"/>
              </a:rPr>
              <a:t>That’s how we</a:t>
            </a:r>
          </a:p>
          <a:p>
            <a:pPr algn="l">
              <a:defRPr sz="5100" b="0">
                <a:solidFill>
                  <a:srgbClr val="111210"/>
                </a:solidFill>
                <a:latin typeface="Georgia"/>
                <a:ea typeface="Georgia"/>
                <a:cs typeface="Georgia"/>
              </a:defRPr>
            </a:pPr>
            <a:r>
              <a:rPr sz="5100" b="0">
                <a:solidFill>
                  <a:srgbClr val="111210"/>
                </a:solidFill>
                <a:latin typeface="Georgia"/>
                <a:ea typeface="Georgia"/>
                <a:cs typeface="Georgia"/>
              </a:rPr>
              <a:t>Mandate.</a:t>
            </a:r>
          </a:p>
        </p:txBody>
      </p:sp>
      <p:sp>
        <p:nvSpPr>
          <p:cNvPr id="3" name="next-title">
            <a:extLst>
              <a:ext uri="{FF2B5EF4-FFF2-40B4-BE49-F238E27FC236}">
                <a16:creationId xmlns:a16="http://schemas.microsoft.com/office/drawing/2014/main" id="{CD41E6FC-7FFD-48C6-A87C-8EF4CF4C31A5}"/>
              </a:ext>
            </a:extLst>
          </p:cNvPr>
          <p:cNvSpPr>
            <a:spLocks noGrp="1"/>
          </p:cNvSpPr>
          <p:nvPr/>
        </p:nvSpPr>
        <p:spPr>
          <a:xfrm>
            <a:off x="781050" y="4048125"/>
            <a:ext cx="2476500" cy="333375"/>
          </a:xfrm>
          <a:prstGeom prst="rect">
            <a:avLst/>
          </a:prstGeom>
          <a:noFill/>
          <a:ln w="0">
            <a:noFill/>
          </a:ln>
        </p:spPr>
        <p:txBody>
          <a:bodyPr anchor="ctr">
            <a:normAutofit/>
          </a:bodyPr>
          <a:lstStyle/>
          <a:p>
            <a:pPr algn="l">
              <a:defRPr sz="1200" b="1">
                <a:solidFill>
                  <a:srgbClr val="5B7CFF"/>
                </a:solidFill>
                <a:latin typeface="Arial"/>
                <a:ea typeface="Arial"/>
                <a:cs typeface="Arial"/>
              </a:defRPr>
            </a:pPr>
            <a:r>
              <a:rPr sz="1200" b="1">
                <a:solidFill>
                  <a:srgbClr val="5B7CFF"/>
                </a:solidFill>
                <a:latin typeface="Arial"/>
                <a:ea typeface="Arial"/>
                <a:cs typeface="Arial"/>
              </a:rPr>
              <a:t>Next steps</a:t>
            </a:r>
          </a:p>
        </p:txBody>
      </p:sp>
      <p:sp>
        <p:nvSpPr>
          <p:cNvPr id="4" name="next-1">
            <a:extLst>
              <a:ext uri="{FF2B5EF4-FFF2-40B4-BE49-F238E27FC236}">
                <a16:creationId xmlns:a16="http://schemas.microsoft.com/office/drawing/2014/main" id="{FF9EC349-62E9-48BC-9BEB-C735FB5BB1D5}"/>
              </a:ext>
            </a:extLst>
          </p:cNvPr>
          <p:cNvSpPr>
            <a:spLocks noGrp="1"/>
          </p:cNvSpPr>
          <p:nvPr/>
        </p:nvSpPr>
        <p:spPr>
          <a:xfrm>
            <a:off x="781050" y="4524375"/>
            <a:ext cx="6858000" cy="323850"/>
          </a:xfrm>
          <a:prstGeom prst="rect">
            <a:avLst/>
          </a:prstGeom>
          <a:noFill/>
          <a:ln w="0">
            <a:noFill/>
          </a:ln>
        </p:spPr>
        <p:txBody>
          <a:bodyPr anchor="ctr">
            <a:normAutofit/>
          </a:bodyPr>
          <a:lstStyle/>
          <a:p>
            <a:pPr algn="l">
              <a:defRPr sz="1500" b="0">
                <a:solidFill>
                  <a:srgbClr val="111210"/>
                </a:solidFill>
                <a:latin typeface="Arial"/>
                <a:ea typeface="Arial"/>
                <a:cs typeface="Arial"/>
              </a:defRPr>
            </a:pPr>
            <a:r>
              <a:rPr sz="1500" b="0">
                <a:solidFill>
                  <a:srgbClr val="111210"/>
                </a:solidFill>
                <a:latin typeface="Arial"/>
                <a:ea typeface="Arial"/>
                <a:cs typeface="Arial"/>
              </a:rPr>
              <a:t>01   Validate lender criteria with adviser partners</a:t>
            </a:r>
          </a:p>
        </p:txBody>
      </p:sp>
      <p:sp>
        <p:nvSpPr>
          <p:cNvPr id="5" name="next-2">
            <a:extLst>
              <a:ext uri="{FF2B5EF4-FFF2-40B4-BE49-F238E27FC236}">
                <a16:creationId xmlns:a16="http://schemas.microsoft.com/office/drawing/2014/main" id="{4A652B4A-0473-4FED-8347-515489FD48DC}"/>
              </a:ext>
            </a:extLst>
          </p:cNvPr>
          <p:cNvSpPr>
            <a:spLocks noGrp="1"/>
          </p:cNvSpPr>
          <p:nvPr/>
        </p:nvSpPr>
        <p:spPr>
          <a:xfrm>
            <a:off x="781050" y="5000625"/>
            <a:ext cx="6858000" cy="323850"/>
          </a:xfrm>
          <a:prstGeom prst="rect">
            <a:avLst/>
          </a:prstGeom>
          <a:noFill/>
          <a:ln w="0">
            <a:noFill/>
          </a:ln>
        </p:spPr>
        <p:txBody>
          <a:bodyPr anchor="ctr">
            <a:normAutofit/>
          </a:bodyPr>
          <a:lstStyle/>
          <a:p>
            <a:pPr algn="l">
              <a:defRPr sz="1500" b="0">
                <a:solidFill>
                  <a:srgbClr val="111210"/>
                </a:solidFill>
                <a:latin typeface="Arial"/>
                <a:ea typeface="Arial"/>
                <a:cs typeface="Arial"/>
              </a:defRPr>
            </a:pPr>
            <a:r>
              <a:rPr sz="1500" b="0">
                <a:solidFill>
                  <a:srgbClr val="111210"/>
                </a:solidFill>
                <a:latin typeface="Arial"/>
                <a:ea typeface="Arial"/>
                <a:cs typeface="Arial"/>
              </a:rPr>
              <a:t>02   Test the workflow on more deal types</a:t>
            </a:r>
          </a:p>
        </p:txBody>
      </p:sp>
      <p:sp>
        <p:nvSpPr>
          <p:cNvPr id="6" name="next-3">
            <a:extLst>
              <a:ext uri="{FF2B5EF4-FFF2-40B4-BE49-F238E27FC236}">
                <a16:creationId xmlns:a16="http://schemas.microsoft.com/office/drawing/2014/main" id="{D4ADB925-8540-4181-AA7A-1FD0F2510E65}"/>
              </a:ext>
            </a:extLst>
          </p:cNvPr>
          <p:cNvSpPr>
            <a:spLocks noGrp="1"/>
          </p:cNvSpPr>
          <p:nvPr/>
        </p:nvSpPr>
        <p:spPr>
          <a:xfrm>
            <a:off x="781050" y="5476875"/>
            <a:ext cx="7620000" cy="323850"/>
          </a:xfrm>
          <a:prstGeom prst="rect">
            <a:avLst/>
          </a:prstGeom>
          <a:noFill/>
          <a:ln w="0">
            <a:noFill/>
          </a:ln>
        </p:spPr>
        <p:txBody>
          <a:bodyPr anchor="ctr">
            <a:normAutofit/>
          </a:bodyPr>
          <a:lstStyle/>
          <a:p>
            <a:pPr algn="l">
              <a:defRPr sz="1500" b="0">
                <a:solidFill>
                  <a:srgbClr val="111210"/>
                </a:solidFill>
                <a:latin typeface="Arial"/>
                <a:ea typeface="Arial"/>
                <a:cs typeface="Arial"/>
              </a:defRPr>
            </a:pPr>
            <a:r>
              <a:rPr sz="1500" b="0">
                <a:solidFill>
                  <a:srgbClr val="111210"/>
                </a:solidFill>
                <a:latin typeface="Arial"/>
                <a:ea typeface="Arial"/>
                <a:cs typeface="Arial"/>
              </a:rPr>
              <a:t>03   Refine lender-ready summaries and reports</a:t>
            </a:r>
          </a:p>
        </p:txBody>
      </p:sp>
      <p:pic>
        <p:nvPicPr>
          <p:cNvPr id="15" name="Picture 14"/>
          <p:cNvPicPr>
            <a:picLocks noChangeAspect="1"/>
          </p:cNvPicPr>
          <p:nvPr/>
        </p:nvPicPr>
        <p:blipFill>
          <a:blip r:embed="rId4"/>
          <a:stretch/>
        </p:blipFill>
        <p:spPr>
          <a:xfrm>
            <a:off x="8248650" y="2422071"/>
            <a:ext cx="3238500" cy="2775857"/>
          </a:xfrm>
          <a:prstGeom prst="rect">
            <a:avLst/>
          </a:prstGeom>
        </p:spPr>
      </p:pic>
      <p:sp>
        <p:nvSpPr>
          <p:cNvPr id="8" name="thanks">
            <a:extLst>
              <a:ext uri="{FF2B5EF4-FFF2-40B4-BE49-F238E27FC236}">
                <a16:creationId xmlns:a16="http://schemas.microsoft.com/office/drawing/2014/main" id="{871CA8A3-847C-4256-927C-B6F742D02363}"/>
              </a:ext>
            </a:extLst>
          </p:cNvPr>
          <p:cNvSpPr>
            <a:spLocks noGrp="1"/>
          </p:cNvSpPr>
          <p:nvPr/>
        </p:nvSpPr>
        <p:spPr>
          <a:xfrm>
            <a:off x="800100" y="6115050"/>
            <a:ext cx="2667000" cy="257175"/>
          </a:xfrm>
          <a:prstGeom prst="rect">
            <a:avLst/>
          </a:prstGeom>
          <a:noFill/>
          <a:ln w="0">
            <a:noFill/>
          </a:ln>
        </p:spPr>
        <p:txBody>
          <a:bodyPr anchor="ctr">
            <a:normAutofit fontScale="96667"/>
          </a:bodyPr>
          <a:lstStyle/>
          <a:p>
            <a:pPr algn="l">
              <a:defRPr sz="1125" b="1">
                <a:solidFill>
                  <a:srgbClr val="777873"/>
                </a:solidFill>
                <a:latin typeface="Arial"/>
                <a:ea typeface="Arial"/>
                <a:cs typeface="Arial"/>
              </a:defRPr>
            </a:pPr>
            <a:r>
              <a:rPr sz="1125" b="1">
                <a:solidFill>
                  <a:srgbClr val="777873"/>
                </a:solidFill>
                <a:latin typeface="Arial"/>
                <a:ea typeface="Arial"/>
                <a:cs typeface="Arial"/>
              </a:rPr>
              <a:t>Thank you</a:t>
            </a:r>
          </a:p>
        </p:txBody>
      </p:sp>
    </p:spTree>
    <p:extLst>
      <p:ext uri="{BB962C8B-B14F-4D97-AF65-F5344CB8AC3E}">
        <p14:creationId xmlns:p14="http://schemas.microsoft.com/office/powerpoint/2010/main" val="1690757209"/>
      </p:ext>
    </p:extLst>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370</Words>
  <Application>Microsoft Office PowerPoint</Application>
  <DocSecurity>0</DocSecurity>
  <PresentationFormat>Widescreen</PresentationFormat>
  <Paragraphs>29</Paragraphs>
  <Slides>3</Slides>
  <Notes>3</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vt:i4>
      </vt:variant>
    </vt:vector>
  </HeadingPairs>
  <TitlesOfParts>
    <vt:vector size="8" baseType="lpstr">
      <vt:lpstr>Helvetica Neue</vt:lpstr>
      <vt:lpstr>Arial</vt:lpstr>
      <vt:lpstr>Calibri</vt:lpstr>
      <vt:lpstr>Georgia</vt:lpstr>
      <vt:lpstr>ChatGPT</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Ollie Farrelly</cp:lastModifiedBy>
  <cp:revision>1</cp:revision>
  <dcterms:created xsi:type="dcterms:W3CDTF">2026-09-26T22:18:02Z</dcterms:created>
  <dcterms:modified xsi:type="dcterms:W3CDTF">2026-09-26T22:32:21Z</dcterms:modified>
</cp:coreProperties>
</file>